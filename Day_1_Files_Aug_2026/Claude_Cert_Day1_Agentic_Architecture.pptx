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3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6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1316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9503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22995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2995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0120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13612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51799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291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05291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0424160" y="56144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424160" y="82296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959084" y="56144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340950" y="73975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875874" y="47823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75874" y="100126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V="1">
            <a:off x="877824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77824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1316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9503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22995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22995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 flipV="1">
            <a:off x="9601200" y="156728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01200" y="182880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136124" y="156728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17990" y="174559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052914" y="148407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052914" y="200710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V="1">
            <a:off x="9052560" y="4890211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052560" y="5212080"/>
            <a:ext cx="658368" cy="321869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710928" y="4890211"/>
            <a:ext cx="914" cy="64373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950147" y="5109667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608515" y="4787798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608515" y="5431536"/>
            <a:ext cx="204826" cy="204826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 flipV="1">
            <a:off x="10607040" y="5539435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607040" y="5760720"/>
            <a:ext cx="452628" cy="22128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059668" y="5539435"/>
            <a:ext cx="914" cy="4425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0536631" y="5690311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989259" y="546902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989259" y="5911596"/>
            <a:ext cx="140818" cy="14081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152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1520" y="182880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1: Agentic Architecture &amp; Orchestration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73152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 ·  27% of the Certification Exam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31520" y="3886200"/>
            <a:ext cx="32004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" y="4526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Program  |  Hands-on Labs  |  Scenario-Based Knowledge Checks</a:t>
            </a:r>
            <a:endParaRPr lang="en-US" sz="12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B92DFD6-1CAD-232D-8BD8-11F28502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Your Trainer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103120" cy="2103120"/>
          </a:xfrm>
          <a:prstGeom prst="ellipse">
            <a:avLst/>
          </a:prstGeom>
          <a:solidFill>
            <a:srgbClr val="EEF3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MKJ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Manish Kumar Jain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734056"/>
            <a:ext cx="109728" cy="109728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0" y="25786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of experience in enterprise technology and digital transformation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300984"/>
            <a:ext cx="109728" cy="109728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0" y="314553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Specializes in AI training for Banking, Financial Services &amp; Insurance (BFSI)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867912"/>
            <a:ext cx="109728" cy="109728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0" y="37124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and delivers AI proof-of-concept demos for enterprise stakeholders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4434840"/>
            <a:ext cx="109728" cy="109728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0" y="42793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hands-on, scenario-based training programs for classroom delivery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5230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program?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5321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Claude's agentic concepts the way you will be tested — and the way you will use them at work: through simple explanations, real BFSI examples, hands-on labs, and exam-style scenario questions.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E989C5-AB85-EB09-04C0-1EDACDC5A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Certification Prep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domain (or domain pair) covered per day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0" y="16276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 / 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sessions with breaks, lectures and labs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72200" y="16276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214884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every concept directly inside Claude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4630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869680" y="16276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Quizzes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0" y="214884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knowledge checks after every session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4 days connect: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950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Domain 1: Agentic Architecture &amp; Orchestration (today)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453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Domain 3 &amp; Domain 2: Building with Claude Code and MCP tools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956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Domain 2 &amp; Domain 4: Implementation, evaluation and safety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5458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Domain 5 + integration review and full mock assessment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7FA0734-5598-714C-718B-1C3F9F4D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Domains &amp; Where They Are Covered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29260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Architecture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&amp;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 &amp; 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&amp; MCP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Safety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Deployment, Governance &amp; Assessment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1440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percentages for Domains 2–5 will be confirmed by your program coordinator. Use this table to plan your after-hours revision time — spend more time on domains with a higher weight.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E8B1BC-1C83-8975-3918-AB1D6C7C1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Schedule at a Glance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3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orientation, exam format, pre-work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 – 1:30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loop fundamentals: autonomy, tool use, stop_reason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1:30 – 1:40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1:40 – 2:40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topologies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+ Case Study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2:40 – 3:40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Lab: decompose a client workflow into a multi-agent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Debrief and Q&amp;A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4" name="Text 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D74154-9807-DA50-86D7-8A59D300B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Learning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makes a system “agentic” and describe the model-tool-environment loop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interpret every stop_reason value and the harness action it requires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5753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9359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hub-and-spoke, orchestrator-worker, evaluator-optimizer and subagent isolation designs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48970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multi-agent topology for a given latency, cost and quality need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3675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8581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 real BFSI workflow into a defensible multi-agent architecture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8DD82E-3799-541C-C389-C42CB066F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Orientation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0:20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exam, the day-plan, and confirm you are ready for hands-on work.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5997482-00DE-6DBE-2674-780D46BAB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Format Walkthrough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questions test how you apply concepts, not just recall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 include multiple choice (1 correct answer) and multiple response (2+ correct answers)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fixed time limit and a minimum passing score — your coordinator will confirm exact numbers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“Exam-ready” means: you can read a scenario and pick the right agentic concept quickly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300B1E-0E4B-9936-D961-21EE0964D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4 Days Map to the Exam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→ Domain 1 (today): Agentic Architecture &amp; Orchestration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→ Domain 3 and Domain 2: building with Claude Code and MCP tools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→ Domain 2 and Domain 4: implementation, evaluation and safety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→ Domain 5 plus an integration review and full mock assessment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domain weighting table to plan extra self-study time after each session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E09CE4-16E7-F9F5-D08F-011D707C8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Pre-Work Self-Check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API access confirmed — you can log in to Claude and your lab environment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pre-reading completed before today's session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repository cloned and running on your laptop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box is unchecked, raise your hand now — we will fix it before Session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597065-3FD4-41EF-486A-2DE2F567B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&amp; Housekeeping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and reference material will be shared after each session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environment walkthrough happens right before every hands-on lab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Dr. Manish Kumar Jain between sessions for any blockers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quizzes are for practice — discuss them, don't just guess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E05A27-8313-F6CC-DDBE-4BCB8CB1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Program Orientation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10 minutes before Session 2 and you realise your lab repository is not cloned yet. What should you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silently and hope the lab step does not apply to you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trainer immediately so it can be fixed before hands-on work begins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lab entirely and only read the slides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colleague's completed lab output at the end of the day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8891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issues should be raised right away during the orientation check, so they don't block you during the hands-on lab later in the day.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488FC5-310A-5FA0-AE36-C0C11255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315740"/>
            <a:ext cx="2177647" cy="4603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Program Orientation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asks, “What does exam-ready really mean for this certification?” What is the best answer?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 every slide word for word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able to read a scenario and quickly apply the correct agentic concept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completing the hands-on labs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reading the pre-work material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765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most exam questions are scenario-based, exam-ready means being able to apply concepts to a described situation, not just recall definitions.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71E50E-D332-F8DD-B136-901EA8F99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Program Orientation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Officer trainee wants to know how to prioritise self-study time across Domains 2–5. What should they check?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weighting table shared in Session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personal preference for topics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topics were mentioned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domain has the most slides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474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weighting table shows each domain's exam weight and which day it is covered, which is the right basis for planning study time.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9F52E77-9931-DD70-1423-F1579FAD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Loop Fundamentals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– 1:30  |  Lecture + Demo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Autonomy, tool use, the action loop, and every stop_reason value.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8B4590-896A-F8C8-432B-1B13A79C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System “Agentic”?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single-shot completion answers one question and stops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1883664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BFSI FAQ chatbot that answers “What is my account balance?” in one reply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has: a model + tools + an environment + a feedback loop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" y="3054096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loan-processing agent that checks documents, calls a credit bureau API, then decides next steps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an agent keeps working, using tool results, until the goal is met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D2AA76-2402-FD67-B400-0EB9920D7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Autonomy Spectrum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Fixed-step workflow — every step is hard-coded in advance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1883664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EMI calculator with a fixed sequence of steps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that chooses its own steps — model decides which tool to call next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" y="3054096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analyst agent that decides whether to check transaction history or call a verification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Long-horizon autonomous agent — works for a long time with minimal checkpoints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14400" y="4151376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51560" y="4187952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processes an entire day's loan applications with only end-of-day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8D2BC6-FA87-6CE7-0EEE-0829F6886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Agentic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Input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0" y="252831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24912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24912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99432" y="252831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55464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55464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9984" y="252831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86016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D9A544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86016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Harness)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2528316"/>
            <a:ext cx="237744" cy="201168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116568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16568" y="210312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3828" y="3154680"/>
            <a:ext cx="914" cy="82296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508760" y="3977640"/>
            <a:ext cx="8545068" cy="914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 flipH="1">
            <a:off x="1097280" y="3867912"/>
            <a:ext cx="411480" cy="201168"/>
          </a:xfrm>
          <a:prstGeom prst="rightArrow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until the model signals completion (stop_reason)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029200"/>
            <a:ext cx="10698480" cy="1003005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" y="5193792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example: </a:t>
            </a: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manager asks Claude to “summarise this month's complaint tickets.” Claude reasons about the goal, selects a “search tickets” tool, the harness runs it, results come back, and Claude either loops again (e.g. to fetch more data) or ends the turn with a summary.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C47D395-987B-1597-432E-C7F12EFA9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Turn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blocks — the model's plain-language reasoning or reply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blocks — the model's request to call a specific tool with inputs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tool_result blocks — the harness sends the tool's output back to the model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roles (user / assistant) and multi-turn state accumulate across the whole conversation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376E09-9386-182D-B862-B6C7C764F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stop_reason?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tells the harness (your application) why the model stopped generating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single most important signal for building a correct agent loop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5 possible values — each needs a different action from your application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many scenario questions describe a stop_reason and ask “what should the application do next?”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FFB04F-5378-FE7D-5E95-431098BC5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STOP_REASON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stop_reason: end_turn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considers the task fully done. It is safe to return control to the user.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harness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final response to the user. No further tool calls are needed.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 manager asks for today's NAV; the agent fetches it, replies with the value, and stop_reason is end_turn — the app simply shows the answer.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4BAFFC-0CF9-95DE-68E3-05CAE1B39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STOP_REASON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stop_reason: tool_use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wants to call a tool before it can continue or finish the task.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harness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must execute the requested tool and feed the tool_result back into the conversation.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analyst agent requests a “check transaction history” tool call; the harness runs the query and returns results to the model.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CC70D5-3C48-FD1C-5BDC-4E32E2DA2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STOP_REASON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stop_reason: max_tokens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was cut off because it hit the maximum output length — the model did not choose to stop.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harness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may need continuation logic: ask the model to continue from where it left off.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BFSI compliance summary gets cut mid-sentence; the app requests a continuation to complete the report.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678723-FED0-410F-B4D0-443CFB178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STOP_REASON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stop_reason: stop_sequence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configured stop string in the request was reached, so the model halted generation there.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harness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output as intentionally bounded; use the stop point as designed (e.g., end of a structured field).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manager's report template uses “END_SECTION” as a stop sequence to cleanly separate report sections.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0DC6DA-7B93-6BA7-11FD-EBFA3CE28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|  STOP_REASON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stop_reason: pause_turn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long-running, server-side tool paused mid-execution (not an error, just still working).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harness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993392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by replaying the paused turn — do not treat it as a final answer or an error.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46988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Example: </a:t>
            </a: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loan-portfolio risk scan is still running on the server; the app resumes the turn instead of re-starting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A5BDF8-812C-FD53-2D34-5B349CA4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CRITICAL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stop_reason Quick Reference Table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stop_reason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must...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end_turn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is 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the response to the user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needs a tool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tool, send back tool_result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was truncated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continuation logic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stop_sequence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string was hit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bounded output as designed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pause_turn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tool paused mid-run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by replaying the paused turn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66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this table cold — many scenario questions simply describe one row and ask what happens next.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3E1D9-6245-5DD4-571C-095F0942F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Harness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to keep iterating vs. when to terminate the loop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maximum iteration cap to prevent runaway loops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timeout handling for tool calls that get stuck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loop is predictable, bounded, and safe to run unattended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F7540D-5DBD-53B5-A792-D72FC143F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Failure Modes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tool-call loops — the agent keeps calling tools without making progress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end_turn — the model stops before the task is actually complete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Misreading tool_result content — acting on the wrong or incomplete data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cost — a runaway loop silently burns tokens and money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528418-AA9E-3310-7D02-A3A56B12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Latency: Practical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loops cost more tokens and take more time — every extra round-trip adds up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sensible iteration cap based on the task's real complexity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or reuse results instead of re-calling the same tool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smaller, targeted tool calls over one giant call that returns unnecessary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DB3D32-0830-A120-03E4-8B118A487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questions often give you a described situation and one stop_reason value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pick the correct next action for the harness — not explain the concept in general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scenario twice: look for clues like “still running” (pause_turn) or “cut off mid-sentence” (max_tokens)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18120" y="1371600"/>
            <a:ext cx="3794760" cy="4717312"/>
          </a:xfrm>
          <a:prstGeom prst="roundRect">
            <a:avLst>
              <a:gd name="adj" fmla="val 241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self-test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you name all 5 stop_reason values from memory?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26243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you say the required action for each, in one sentence?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32826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not, revisit the reference table before Session 3.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1AF2CC6-F1ED-07D9-1256-F564B4AF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the Agent Loop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Trainer-led demo — follow along on your own laptop.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chat in Claude (claude.ai or the API console)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“Search the web for today's RBI repo rate and summarise it in 2 lines.”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Claude issue a tool_use block for the web search tool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tool_result block that comes back, then Claude's final reply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79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response metadata: confirm the final stop_reason is end_turn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946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would change if the search tool took a very long time to respond?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D767D4B-30DA-D440-55F5-2C16E930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Agent Loop Fundamentals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asked to draft a loan approval memo. Mid-response, the API returns stop_reason = max_tokens. What should the harness application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partial memo to the user and close the conversation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continuation logic so the model can finish generating the memo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whole conversation from scratch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an error and alert the compliance team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3221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means the output was truncated, not that the model chose to stop. The correct action is to continue generation, not restart or treat it as an error.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C4F18D5-6454-89EF-79FC-A522274E8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Agent Loop Fundamentals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fraud-detection agent calls a “verify transaction” tool. The API response includes a tool_use block. What must the harness do next?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and wait for the user to respond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requested tool and send the tool_result back to the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conversation immediately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to manually run the tool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474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565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means the model is requesting a tool call. The harness is responsible for executing it and returning the tool_result so the loop can continue.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2A7BF4E-8365-C179-7B7E-9B467EF06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Agent Loop Fundamentals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processes an entire day's KYC documents with almost no human checkpoints sits at which point on the autonomy spectrum?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Fixed-step workflow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that chooses its own steps, with frequent checkpoints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autonomous 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completion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474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for an extended period with minimal checkpoints is the definition of a long-horizon autonomous agent, the far end of the autonomy spectrum.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FE6DBF-561F-7002-2F95-380F231AA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828800" y="4859122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5120640"/>
            <a:ext cx="534924" cy="26151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363724" y="4859122"/>
            <a:ext cx="914" cy="523037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45590" y="5037430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0514" y="4775911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0514" y="5298948"/>
            <a:ext cx="166421" cy="166421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92720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118872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92720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110551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84399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136702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1:30 – 1:40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away from the screen — Session 3 begins in 10 minutes.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8DA0B9-5F6A-60B3-7D77-0C5115FD5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Topologies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 – 2:40  |  Lecture + Case Study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four topologies and learn to pick the right one for a real workflow.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AD35539-7497-D383-3F59-B3A9FD75E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MULTI-AGENT 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Hub-and-Spoke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coordinator dispatches work to independent spoke agents. Spokes do not talk to each other; the coordinator aggregates the final results.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that split cleanly into independent pieces, with no need for spokes to share progress.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51460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99923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agent sends “check credit score”, “check income proof” and “check existing loans” to three separate spoke agents, then combines the results into one loan decision.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63040" y="46634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4389120"/>
            <a:ext cx="1828800" cy="6400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83280" y="4114800"/>
            <a:ext cx="548640" cy="548640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5029200"/>
            <a:ext cx="2286000" cy="91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0" y="4754880"/>
            <a:ext cx="548640" cy="548640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828800" y="5029200"/>
            <a:ext cx="1828800" cy="6400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83280" y="5394960"/>
            <a:ext cx="548640" cy="548640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CC3FEC-1770-800F-ECCF-E4D12F52A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MULTI-AGENT 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Orchestrator-Worker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decomposes a task into subtasks and assigns each to a worker (often a subagent). It then collects and synthesises worker outputs into one final answer.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tasks that need a clear plan first, then coordinated execution and a synthesised result.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51460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99923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agent breaks “prepare quarterly NPA report” into subtasks for data-pull, calculation and formatting workers, then merges their outputs into the final report.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96B40A-5214-13C9-DC3D-5B94AA463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MULTI-AGENT 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Evaluator-Optimizer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agent produces a candidate output. An evaluator agent critiques it against explicit criteria. The loop repeats until a quality bar is met or an iteration cap is hit.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where output quality matters more than speed, and clear pass/fail criteria exist.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51460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99923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agent drafts a customer complaint response; an evaluator agent checks it against tone and compliance rules, sending it back for revision until it passes.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A2B99B-26B8-2F0C-B861-DA2F5F064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|  MULTI-AGENT 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 Isolation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subagent its own clean context window prevents context pollution, enables parallel execution, and enforces security or permission boundaries with focused tool access.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tasks needing strict data or tool access boundaries, or tasks that must run in parallel.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51460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99923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KYC-verification subagent only has access to identity-check tools, isolated from the main agent's broader banking-product context, for security and audit reasons.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479846-6F96-4E4D-7E30-FEA166251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CRITICAL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Trade-off Matrix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workers cut wall-clock time, but coordination adds overhead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agents means more total tokens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Evaluator-optimizer improves quality, at the cost of extra round-trips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3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moving parts means more failure surface to manage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this matrix — exam scenarios often describe a constraint (e.g. “low latency is critical”) and ask you to pick the best-fit topology.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A97909-D2E1-C29F-04EB-DDCC358C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Inter-Agent Communication Patterns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handoffs — agents pass clearly defined data structures, not free text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scratchpad or memory store — agents read and write to a common workspace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Orchestrator-routed messaging — spokes talk only through the orchestrator, never directly to each other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5E4B24-1EE9-7138-F118-24E89BBC9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Handling Across Agents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backoff — try again after a short, increasing delay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a simpler agent — if the complex agent fails, use a basic one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— stop calling a failing agent to prevent cascading failures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 — route to a person when automated recovery isn't safe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ECB014-CD67-3993-3536-8247E0A0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Support-Ticket Triage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workflow: incoming support tickets need routing, prioritising and drafting a first response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need: medium — tickets should be triaged within minutes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need: high — wrong routing frustrates customers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design: orchestrator-worker, with an evaluator step before the response is sent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289529-824F-2B02-5590-3E23C99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a Topology Prompt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trainer-led exercise — 5 minutes.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chat in Claude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workflow: “We receive loan queries by email; each needs categorising, a credit-check, and a draft reply.”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“Which multi-agent topology fits this best, and why?”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Claude's suggested topology with the trade-off matrix from this session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79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group: would your answer change if response time had to be under 30 seconds?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F2F377-66BA-E158-5A98-053BAF6EB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Multi-Agent Topologies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needs three independent checks — credit score, income proof, and existing loans — combined into one final decision. The checks never need to share progress with each other. Which topology fits best?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 only, with no coordinator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long-horizon autonomous agent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53477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checks that don't need to talk to each other, aggregated by a coordinator, is the classic hub-and-spoke pattern.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ACBCF9-3F99-5E7E-8D11-3C138CD1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Multi-Agent Topologies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team needs every customer complaint response checked against tone and regulatory rules before it is sent, with revisions until it passes. Which topology is the best fit?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96007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generate-then-critique-then-revise loop against explicit quality criteria is exactly the evaluator-optimizer pattern.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8304214-5ADE-65FD-5914-C9257676D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Multi-Agent Topologies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KYC-verification task must only access identity-check tools and must not see broader banking-product data, for audit reasons. Which concept addresses this need?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scratchpad memory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1018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 gives a subagent its own clean context and restricted, focused tool access — exactly what strict security or audit boundaries require.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52CB575-829F-B874-444C-D6A7E65B7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 – 3:40  |  Hands-on Lab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 real client workflow into a defensible multi-agent design.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B5E31BE-B8CF-4650-E560-DE1ECB459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Overview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topology selection criteria from Session 3 to an ambiguous, real-world workflow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defensible architecture diagram with a written rationale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individually or in small groups; you will present a 2-minute rationale at the end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25E518-8CCF-D87C-9F0E-A6F5E2853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Steps 1 –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Map the current workflow — identify inputs, decision points, and outputs of the existing process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Identify natural decomposition boundaries — distinct skills, distinct data sources, and parallel-safe subtasks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Choose a topology (or a hybrid) and justify it against the trade-off matrix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32F3D4-0E7A-6687-4267-90D59D2C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Steps 4 – 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Define each agent's role, its tool access, and the boundary of its context window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Define stop conditions and escalation or error paths for each agent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Sketch the architecture diagram and prepare a 2-minute rationale for the group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179400-6303-9423-42A8-60A128A88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Checklist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Role definitions for every agent in your design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A topology diagram (hand-drawn or digital)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A tool list per agent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A written failure-handling plan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75DD3A-ED5F-AF7E-FB7B-70834219B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91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Perform This Lab in Claude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 — see the companion Lab Guide document for the detailed worksheet.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perform this in Claude: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Claude chat and paste in your assigned BFSI workflow description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79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“List the inputs, decision points and outputs of this workflow” (Step 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 are natural decomposition boundaries in this workflow?” (Step 2)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13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“Given this trade-off matrix [paste matrix], which topology fits best and why?” (Step 3)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799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draft a role, tool-access list and context boundary for each proposed agent (Step 4)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9469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propose stop conditions and escalation paths for each agent (Step 5)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04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504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5138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to help you describe the diagram in words, then sketch it yourself on paper or a whiteboard (Step 6)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0716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6071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6080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Claude's suggestions critically — you make the final design decisions, not the model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4E7AC7D-AECB-9C71-E901-A9E8B511C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lab, your group cannot agree on where to draw the boundary between two agents. What is the recommended first step from the lab process?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choose a topology before mapping the workflow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Step 1 and Step 2: re-map the workflow and re-check the decomposition boundaries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boundary decisions and merge everything into one agent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trainer to assign the design for you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60565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disagreements usually mean the workflow mapping or decomposition boundaries (Steps 1–2) need more clarity before a topology can be chosen.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C5437D6-F810-52A0-408E-8014481C4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deliverable is missing a written failure-handling plan. What does the checklist say about this?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optional and can be skipped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required part of the deliverable checklist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replace the topology diagram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only needed for hub-and-spoke designs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59677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checklist explicitly requires a written failure-handling plan alongside role definitions, the topology diagram, and the tool list.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A48288-F51A-DBC7-CF59-4C222B2B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Hands-on Lab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using Claude to help draft your lab design, Claude suggests an agent with very broad tool access. What should you do?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it directly without review, since Claude is always correct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review the suggestion and scope down tool access to only what each agent needs, using subagent isolation principles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agent entirely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Claude and design without any AI assistance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10184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drafting aid; the learner makes the final design decisions — including applying subagent isolation to scope tool access appropriately.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5E1480-CF35-063B-871D-967FF00C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01200" y="81564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109728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177272" y="81564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11589" y="100766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87661" y="72603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087661" y="128930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10607040" y="5153558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0" y="5394960"/>
            <a:ext cx="493776" cy="241402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00816" y="5153558"/>
            <a:ext cx="914" cy="482803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30230" y="5318150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024006" y="5076749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024006" y="5559552"/>
            <a:ext cx="153619" cy="153619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 &amp; Q&amp;A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3:40 – 4:00  |  Discussion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Day 1 vocabulary and patterns before Day 2.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BD886C-8ADA-029A-03A1-BDC437C4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Agent Loop &amp; stop_reason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loop: Goal → Reasoning → Tool Selection → Tool Execution → Result → Loop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stop_reason values: end_turn, tool_use, max_tokens, stop_sequence, pause_turn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requires a specific, different harness action — know the table cold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1E2BDC-599C-03E9-8C44-A0E3E1B20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Topology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— independent spokes, coordinator aggregates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— decompose, assign, synthesise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— generate, critique, repeat until quality bar is met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 — clean context, focused tools, security boundary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E7E1A5-3AB1-0B76-9C73-8C90C0F7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Exam Pitfalls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orchestrator-worker with evaluator-optimizer — look for a critique/quality-bar loop as the evaluator-optimizer signal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subagent isolation as the answer when a question describes context pollution or security boundaries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B543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stop_reason actions — re-check the reference table if unsure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68E2A8-2AB0-3541-F89E-EF1134830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Share-Out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topology did your group choose in the lab, and why?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part: mapping the workflow, choosing the topology, or defining stop conditions?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group choose a hybrid of two topologies? What made that necessary?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04B0A3-FA99-FC49-B348-94A01271B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to Day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72184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architecture decisions get implemented concretely tomorrow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covers Claude Code workflows and MCP tool integrations (Domains 3 &amp; 2)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0584" cy="100584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459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Day 1 lab diagram — you will build on it tomorrow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61140F-1A56-A10D-72FA-77BDA75FA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describes an agent that pauses mid-way through a long-running server-side tool call, with no error reported. What is the correct stop_reason and required action?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— trigger a continuation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pause_turn — resume by replaying the paused turn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— execute a new tool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end_turn — close the conversation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46389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server-side tool pausing mid-execution, without error, is exactly the pause_turn case, resolved by resuming the same turn.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C397D8-3847-3462-D289-428A855B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needs three parallel document checks with strict data-access boundaries between them for security reasons, aggregated by one coordinator. Which combination of concepts applies?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topology with subagent isolation on each spoke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with no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with no context boundaries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745626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parallel checks aggregated by a coordinator is hub-and-spoke; strict data-access boundaries on each spoke is subagent isolation — the two combine here.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9E3FCC6-189F-EF51-C401-C9005A23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6616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Comprehensive Review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is designing a system where quality matters more than speed, and there is a clear, checkable quality bar for the output. Which topology should you recommend, and what is the main cost trade-off?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Hub-and-spoke; the cost trade-off is more total tokens from independent spokes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329184" cy="329184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3401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Evaluator-optimizer; the cost trade-off is extra round-trips between generator and evaluator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" y="40782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isolation; the cost trade-off is reduced security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" y="4754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6360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Orchestrator-worker; the cost trade-off is reduced quality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85816"/>
            <a:ext cx="11247120" cy="674742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549554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 —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is designed for cases where quality matters more than speed, and its known trade-off from the matrix is the extra round-trips needed to reach the quality bar.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5D95BFB-AE1A-B652-7089-66E66F136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69680" y="724205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1005840"/>
            <a:ext cx="576072" cy="281635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445752" y="724205"/>
            <a:ext cx="914" cy="56327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80069" y="916229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56141" y="63459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56141" y="1197864"/>
            <a:ext cx="179222" cy="179222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V="1">
            <a:off x="9692640" y="4950562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92640" y="5212080"/>
            <a:ext cx="534924" cy="261518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227564" y="4950562"/>
            <a:ext cx="914" cy="523037"/>
          </a:xfrm>
          <a:prstGeom prst="line">
            <a:avLst/>
          </a:prstGeom>
          <a:noFill/>
          <a:ln w="12700">
            <a:solidFill>
              <a:srgbClr val="D9A5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9430" y="5128870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144354" y="4867351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144354" y="5390388"/>
            <a:ext cx="166421" cy="166421"/>
          </a:xfrm>
          <a:prstGeom prst="ellipse">
            <a:avLst/>
          </a:prstGeom>
          <a:solidFill>
            <a:srgbClr val="D9A5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V="1">
            <a:off x="1188720" y="5193792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88720" y="5394960"/>
            <a:ext cx="411480" cy="201168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600200" y="5193792"/>
            <a:ext cx="914" cy="402336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124712" y="5330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36192" y="5129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536192" y="55321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2: Claude Code Workflows &amp; MCP Tool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2743200" cy="0"/>
          </a:xfrm>
          <a:prstGeom prst="line">
            <a:avLst/>
          </a:prstGeom>
          <a:noFill/>
          <a:ln w="25400">
            <a:solidFill>
              <a:srgbClr val="D9A5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Kumar Jain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Project Manager &amp; Technical Consultant  |  Enterprise AI Training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any time between sessions.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Certification Prep Program  |  Day 1  |  Domain 1: Agentic Architecture &amp; Orchestration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CE319C1-B8AB-0EC4-11DA-F3D3D65F6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758" y="6229339"/>
            <a:ext cx="2177647" cy="5467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DEC5C8BF5284E81BD4C5AED9FC143" ma:contentTypeVersion="21" ma:contentTypeDescription="Create a new document." ma:contentTypeScope="" ma:versionID="bfc1964c0fb8b0b0f15cb08538983cdf">
  <xsd:schema xmlns:xsd="http://www.w3.org/2001/XMLSchema" xmlns:xs="http://www.w3.org/2001/XMLSchema" xmlns:p="http://schemas.microsoft.com/office/2006/metadata/properties" xmlns:ns1="http://schemas.microsoft.com/sharepoint/v3" xmlns:ns2="b0bb338f-7b42-4437-b836-3bba46acea74" xmlns:ns3="847b69b4-afc2-4d71-b6dd-a5b5c23f9e3f" xmlns:ns4="567d2312-0729-48ba-857e-77359d3146cd" targetNamespace="http://schemas.microsoft.com/office/2006/metadata/properties" ma:root="true" ma:fieldsID="c845ba8b66cb9afb1512695f3dd38e09" ns1:_="" ns2:_="" ns3:_="" ns4:_="">
    <xsd:import namespace="http://schemas.microsoft.com/sharepoint/v3"/>
    <xsd:import namespace="b0bb338f-7b42-4437-b836-3bba46acea74"/>
    <xsd:import namespace="847b69b4-afc2-4d71-b6dd-a5b5c23f9e3f"/>
    <xsd:import namespace="567d2312-0729-48ba-857e-77359d314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ink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b338f-7b42-4437-b836-3bba46ace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inks" ma:index="20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6c96b7e-5bf0-4834-8b97-10d0cc9633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b69b4-afc2-4d71-b6dd-a5b5c23f9e3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d2312-0729-48ba-857e-77359d3146cd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729d132-36df-45cd-aba4-e5565f9ac6c9}" ma:internalName="TaxCatchAll" ma:showField="CatchAllData" ma:web="847b69b4-afc2-4d71-b6dd-a5b5c23f9e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0bb338f-7b42-4437-b836-3bba46acea74">
      <Terms xmlns="http://schemas.microsoft.com/office/infopath/2007/PartnerControls"/>
    </lcf76f155ced4ddcb4097134ff3c332f>
    <Links xmlns="b0bb338f-7b42-4437-b836-3bba46acea74">
      <Url xsi:nil="true"/>
      <Description xsi:nil="true"/>
    </Links>
    <_ip_UnifiedCompliancePolicyProperties xmlns="http://schemas.microsoft.com/sharepoint/v3" xsi:nil="true"/>
    <TaxCatchAll xmlns="567d2312-0729-48ba-857e-77359d3146cd" xsi:nil="true"/>
  </documentManagement>
</p:properties>
</file>

<file path=customXml/itemProps1.xml><?xml version="1.0" encoding="utf-8"?>
<ds:datastoreItem xmlns:ds="http://schemas.openxmlformats.org/officeDocument/2006/customXml" ds:itemID="{60017FB5-663D-48AA-AE87-04612011D3E7}"/>
</file>

<file path=customXml/itemProps2.xml><?xml version="1.0" encoding="utf-8"?>
<ds:datastoreItem xmlns:ds="http://schemas.openxmlformats.org/officeDocument/2006/customXml" ds:itemID="{22123BAB-A426-4927-A07A-610A453DF40F}"/>
</file>

<file path=customXml/itemProps3.xml><?xml version="1.0" encoding="utf-8"?>
<ds:datastoreItem xmlns:ds="http://schemas.openxmlformats.org/officeDocument/2006/customXml" ds:itemID="{25A6DED1-777D-4146-8C9A-0BF860BE1441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6186</Words>
  <Application>Microsoft Office PowerPoint</Application>
  <PresentationFormat>Widescreen</PresentationFormat>
  <Paragraphs>818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Dr.Manish Kumar Jain</cp:lastModifiedBy>
  <cp:revision>2</cp:revision>
  <dcterms:created xsi:type="dcterms:W3CDTF">2026-08-17T08:35:29Z</dcterms:created>
  <dcterms:modified xsi:type="dcterms:W3CDTF">2026-08-23T11:02:49Z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0x010100C72DEC5C8BF5284E81BD4C5AED9FC143</vt:lpwstr>
  </property>
</Properties>
</file>