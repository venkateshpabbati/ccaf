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0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68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167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1316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9503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22995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22995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0120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0120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13612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51799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291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05291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042416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42416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95908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34095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87587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87587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 flipV="1">
            <a:off x="877824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77824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1316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9503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2995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22995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 flipV="1">
            <a:off x="960120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0120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013612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51799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05291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05291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 flipV="1">
            <a:off x="9052560" y="4890211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052560" y="5212080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710928" y="4890211"/>
            <a:ext cx="914" cy="64373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950147" y="5109667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608515" y="4787798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608515" y="5431536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 flipV="1">
            <a:off x="10607040" y="5539435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607040" y="5760720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059668" y="5539435"/>
            <a:ext cx="914" cy="4425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0536631" y="5690311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989259" y="546902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989259" y="591159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3152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1520" y="182880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3: MCP Integration &amp; Prompt Engineering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73152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 ·  18%      +      Domain 4  ·  20%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31520" y="3840480"/>
            <a:ext cx="32004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152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Program  |  Hands-on Labs  |  Scenario-Based Knowledge Checks</a:t>
            </a:r>
            <a:endParaRPr lang="en-US" sz="12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0771322-FF9D-B511-D721-5F9C71486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 Domain 3 (Claude Code &amp; MCP) and Domain 2 (Implementation &amp; Tooling) fundamentals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3230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Domain 2 (continued) and Domain 4 — Evaluation &amp; Safety topics through MCP and prompt engineering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954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go deeper into MCP itself, then focus on reliability techniques: few-shot, chain-of-thought, and structured output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Day 2 tool description — we will extend it in today's lab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A4E625-A21C-529A-ACD8-A8EAADF7E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Exam Domains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1737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Today 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&amp; Tooling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2–5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Safety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3 &amp; 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38328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8680" y="35661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have touched all 5 domains at least once. Use tonight's revision time to fill any remaining gaps before Day 4's mock assessment.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C4980F-2428-0DBA-D6CF-B0D51B9D1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Schedule at a Glance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3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Day 2; open questions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 – 1:15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Context Protocol end to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2:15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and chain-of-thought techniques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2:15 – 2:25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2:25 – 3:30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JSON-schema tool use &amp; validation-retry loops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3:30 – 4:00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Lab: build a validated structured-output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D2DF22-F92F-FD06-7F25-552EABF04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Learning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MCP's client-server architecture and the three MCP primitives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structured error responses that an agent can actually recover from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5753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59359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effective few-shot example set, and decide when chain-of-thought helps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4714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489704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JSON schema that reliably constrains model output to a target shape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3675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8581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validate-and-retry loop that recovers from malformed output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7CF092-B3DB-E46E-5DCE-146193192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Day 2 &amp; Open Questions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0:15  |  Discussion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recall check before we go deeper into MCP and prompting reliability.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9F571E5-C426-F0C5-60F3-37E551DCE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Recall: Day 2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precedence: enterprise → project → user → local, each overriding the level above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mechanism: slash command (explicit trigger), Skill (automatic discovery), subagent (isolation)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has 4 modes: auto, any, tool, none — can you name what each does?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572000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blockers from your Day 2 tool description lab?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CLAUDE.md or CI/CD question still unclear?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32826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Bring your tool description — we'll extend it today.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9276AF-A7EB-0372-4B73-6C315DD05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2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wants a repeatable action they trigger explicitly, by name, whenever they choose. Which mechanism fits?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slash command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4772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explicit, on-demand, named action is exactly what a slash command is designed for.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892DAAE-92D1-CE9E-EDE6-D1645638F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2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step must always extract data in one specific structured format, with no exceptions. Which tool_choice mode fits?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(forcing the specific tool)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6271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 specific named tool guarantees the deterministic, single-path structured output this scenario needs.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58606BD-BB19-FF9B-746B-165ABE9C6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2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client's production core-banking repo needs the strictest safeguards before any Claude Code change. Which permission configuration fits?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Deny-list with auto-accept edits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with plan mode and per-tool confirmation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 model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with auto-accept edits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9269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sensitive environments call for an allow-list, plan mode, and confirmation prompts — the strictest combination available.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3AEA61A-64E4-40A9-7274-76ABCD580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 End to End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1:15  |  Lecture + Demo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Resources, Prompts — and how to design errors an agent can recover from.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795B7D-274C-2552-36EB-FE4672B8D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85316" y="19202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85316" y="19202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19956" y="2386584"/>
            <a:ext cx="420624" cy="25603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77156" y="19202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D9A544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77156" y="19202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11796" y="2386584"/>
            <a:ext cx="420624" cy="25603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68996" y="19202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68996" y="19202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embeds an MCP client, which speaks a standard protocol to any MCP server — no bespoke integration per tool.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4187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standard protocol beats bespoke integrations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553712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MCP, every tool needs its own custom integration code per host application. With MCP, any compliant server works with any compliant host — write the integration once, reuse it everywhere, and let the client discover what's available at connection time.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DF51D9-1616-500C-D1EA-E0AC13D0E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Mechanisms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/ Implications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processes on the same machine; low latency, simple, no network auth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servers; needs network auth (e.g. OAuth), higher latency, supports distributed 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a scenario naming “local tool” usually points to stdio; “remote/hosted server” usually points to HTTP/SSE.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A73577-6BE1-D26C-BBBA-5D5D2BE49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MCP Primitives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Model-invoked actions — the model decides to call them, like any other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data the host can attach, addressed by URI — not invoked by the model itself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prompt templates surfaced to the user or host, not chosen by the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Tools are model-invoked; Resources are host-attached; Prompts are user/host-surfaced — know who decides to use each one.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9217B4-7A7E-871A-7759-CC8F8F447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connection time, the client lists available tools, resources, and prompts from the server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schema-driven discovery — the server describes its own capabilities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never needs hard-coded knowledge of a specific server in advance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054B22-4D6A-D2ED-49DF-9DCAE2F01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Error Handling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isError flag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result can be flagged as an error, distinct from a normal successful result, so the model knows something went wrong.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error detail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specific, actionable detail in the error so the model can self-correct — not just “something failed.”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46988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retryable error (“rate limit exceeded, retry in 5s”) tells the model what to do next; a terminal error (“account not found”) tells it to stop trying that path.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71FE9CF-FDD4-ED69-A1EC-4F2B2F8F0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Scoping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flows authenticate remote MCP servers securely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scoping — a server should only access what it strictly needs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consent prompts — the person approves what a server can do before it acts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8A429F-393B-6934-C180-05B7CE0E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MCP Integration Pitfalls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overly broad tool surface exposed by a single server — too many tools, unclear boundaries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error detail — generic failures the model cannot act 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and capability negotiation issues — client and server expecting different feature sets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7A1F7F-D40F-6046-A9F9-917537162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an MCP Server's Capabilities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demo — follow along on your own laptop.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an available MCP server in your Claude environment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“What tools, resources, and prompts does this MCP server expose?”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of the three primitives each capability belongs 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does this server's tool surface look focused, or overly broad?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would a retryable vs. a terminal error look like for one of these tools?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900654F-B202-FB98-8F32-9D5D8B7A6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Model Context Protocol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needs to call a locally running tool on the same machine, with minimal latency and no network authentication overhead. Which transport fits best?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HTTP/SSE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3273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is designed for local processes on the same machine, offering low latency with no network auth required.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11B609-E747-9438-6B36-B2651A520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Model Context Protocol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wants to attach some read-only contextual data (like a document) that the model can reference, without the model needing to decide to call anything. Which MCP primitive fits?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3273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contextual data the host attaches, addressed by URI, rather than something the model invokes like a Tool.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31544A0-F87D-A64D-7C08-76BD2F2AF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Model Context Protocol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call fails with a generic 'invalid request' message and no further detail. What MCP pitfall does this represent, and what's the fix?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overly broad tool surface; fix by adding more 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error detail; fix by embedding actionable, specific error information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transport issue; fix by switching from stdio to HTTP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 flow issue; fix by disabling schema discovery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4023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missing error detail pitfall. The fix is to embed specific, actionable error detail so the model can actually self-correct.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362077-9F0A-226B-DB60-2878F64E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&amp; Chain-of-Thought Techniques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2:15  |  Lecture +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reliability techniques — and knowing when NOT to use them.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552B681-0C74-0975-A20E-4A7F1405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Prompting Basics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2–5 examples — more than that usually shows diminishing returns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examples that cover edge cases and the desired output format, not just the easy case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matters — the sequence of examples can influence the model's output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C2D0A6-771B-AE19-8AD1-4B7EAD061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&amp; Negative Examples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examples show what to do; negative examples show what to avoid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the model may imitate the ‘wrong’ example anyway if it isn't clearly marked as wrong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negative examples, label them unambiguously as incorrect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621FF0-9A40-6834-DEA2-8CE07ABA1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Triggers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‘think step by step’ instructions in the prompt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tags that separate reasoning from the final answer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native extended thinking mode, when available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B4A907-11A8-F2A4-4FC0-A311E2E3D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CoT Helps vs. When It Hurts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Recommendation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arithmetic or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— breaks the problem into verifiable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— makes intermediate decisions explicit and checkable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classification or extraction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Hurts / wastes budget — adds cost with no accuracy 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Latency-sensitive paths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Hurts — extra reasoning tokens slow the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CoT is not free — it costs tokens and time. Only reach for it when the task genuinely benefits.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5A8006-676F-E634-5D05-AC1DCE190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Few-Shot with Chain-of-Thought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should include the full reasoning trace, not just the final answer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teaches the model both the destination and the path to get there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valuable for tasks with verifiable intermediate steps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C80E2-E67B-253F-AEAF-95FC8C6A3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Reliability Techniques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state its assumptions explicitly before answering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— sample multiple reasoning paths and take the majority answer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uncertainty flagging — have the model say when it isn't confident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CF63D0-9938-F053-BCB6-DF079BC0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Few-Shot vs. Zero-Shot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lab — 10 minutes.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classify 5 sample customer complaints into categories with no examples (zero-shot)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misclassifications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provide 3 labelled examples covering different categories, then ask again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 between zero-shot and few-shot results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8554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for this task, did chain-of-thought (“think step by step”) help or just add cost?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462610A-F4E6-219D-4F07-EC8631CDA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Few-Shot &amp; Chain-of-Thought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is designing few-shot examples for a classification task and has 15 candidate examples. What does best practice suggest?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15 for maximum coverage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typically 2–5 well-chosen examples covering edge cases and format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exactly 1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0 examples and rely on the model's training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8520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is typically 2–5 well-selected examples; beyond a handful, returns diminish and adding more rarely helps.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7F87C40-ECC9-E13E-D669-B0324B55E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Few-Shot &amp; Chain-of-Thought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latency-sensitive data-extraction task is being redesigned. Should chain-of-thought be added?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always add CoT for reliability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CoT tends to hurt or waste budget on simple, latency-sensitive extraction tasks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the model asks for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only using negative examples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7770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classification/extraction and latency-sensitive paths are exactly the cases where CoT adds cost without an accuracy benefit.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B0F7A49-CD73-B80D-8865-9BD4F2E2F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Few-Shot &amp; Chain-of-Thought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includes a negative example labelled only by placement, with no explicit 'this is wrong' marker. What risk does this create?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— negative examples always work as intended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imitate the 'wrong' example anyway since it isn't clearly marked as incorrect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will automatically trigger self-consistency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forces chain-of-thought to activate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4023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negative examples risk backfiring — the model can imitate the very behavior you intended to discourage.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AA8D67-22E5-3744-5CF2-F98B40F96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828800" y="485912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512064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363724" y="485912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745590" y="503743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0514" y="477591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0514" y="529894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92720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118872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92720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110551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84399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136702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2:15 – 2:25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away from the screen — Session 4 begins in 10 minutes.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788301-DDBF-479C-CFE9-15B7FBD52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JSON-Schema Tool Use &amp; Validation-Retry Loops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2:25 – 3:30  |  Lecture +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schema-shaped output, then recover gracefully when it's wrong.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B8F0D3B-4FF7-7E58-C202-0F916E881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Tool-Use for Structured Output Only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define a ‘tool’ whose only purpose is to shape the response — it performs no real action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repurposes the tool-use machinery purely for extraction and formatting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fills in the tool's parameters, and that becomes your structured output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BA1B50-2E8C-C546-E931-7DF429DA3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Schema Essentials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— mark exactly which fields must always be present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— constrain a field to a fixed set of allowed values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constraints, nested objects and arrays — shape complex structured data precisely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descriptions guide how the model fills each one 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5D9304-F3CC-2198-93C1-B7876AE97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Forcing Structured Output via tool_choice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tool_choice = tool to force a specific, named tool call on every turn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guarantees schema-shaped output — the model cannot simply reply in free text instead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deterministic path for pipelines that must never receive an unstructured response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CCC656-C77A-24CC-DFD6-4F0A0766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Validation-Retry Loop Pattern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71800" y="2345436"/>
            <a:ext cx="237744" cy="201168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27832" y="19202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27832" y="19202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Rules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05272" y="2345436"/>
            <a:ext cx="237744" cy="201168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861304" y="19202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D9A544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61304" y="19202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Error Back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38744" y="2345436"/>
            <a:ext cx="237744" cy="201168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494776" y="19202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94776" y="19202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(Bounded Count)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83496" y="2971800"/>
            <a:ext cx="914" cy="68580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508760" y="3657600"/>
            <a:ext cx="8174736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08760" y="3657600"/>
            <a:ext cx="914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 flipH="1">
            <a:off x="1097280" y="3547872"/>
            <a:ext cx="411480" cy="201168"/>
          </a:xfrm>
          <a:prstGeom prst="rightArrow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Parse Output — bounded by a capped retry count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4709160"/>
            <a:ext cx="10698480" cy="1009588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" y="48920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exact field and constraint that was violated (e.g. “account_id must match pattern ^ACC-\d{6}$, got 'AC-123'”) rather than a generic “invalid” — specific feedback makes the retry far more likely to succeed.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1DF4488-609C-C614-653C-C5006BF44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Irrecoverable Failures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a stricter or simpler schema if the original keeps failing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a human when automated retries cannot resolve the issue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case for offline review — don't just silently drop it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25FC2D-4BBA-6939-B491-3A45B3A26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Structured-Output Pipelines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inputs — throw random or unexpected input at the pipeline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values — test the edges of what your schema allows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malformed upstream data — confirm the retry loop actually recovers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21C939-2FAC-D705-1255-37E1C8D3C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Mini Validation-Retry Loop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lab — 10 minutes.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with tool-use enabled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simple tool for extracting {customer_name, account_id, amount} with a strict pattern on account_id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tool_choice = tool and send a prompt with a deliberately malformed account_id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invalid output, then send Claude specific feedback naming the exact field and constraint violated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retry produces valid, schema-shaped output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102E6BC-F284-DF52-AB03-4A6364DBC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JSON-Schema Tool Use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must guarantee every response is schema-shaped, with no possibility of a free-text reply. What should be configured?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auto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none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tool, forcing the extraction tool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at all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1774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 specific named tool with tool_choice = tool is the only mode that guarantees schema-shaped output on every turn.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7FA7A81-AD61-F813-7837-4D6442B39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JSON-Schema Tool Use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validation-retry loop keeps failing because the model receives only a generic 'invalid' message each time. What should change?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retry cap indefinitely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the exact field and constraint that was violated instead of a generic message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schema entirely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tool_choice = 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7770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field-level error feedback is what makes a retry far more likely to succeed — generic messages give the model nothing to correct.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EDD8229-6AC1-12DA-6FD9-F3445C4BD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JSON-Schema Tool Use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several bounded retries, a structured-output pipeline still cannot produce valid output for a given input. What is the recommended next step?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indefinitely with no cap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a simpler schema, escalate to a human, or log the case for 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discard the input and continue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validation entirely going forward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37666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Irrecoverable failures should be handled by falling back to a simpler schema, escalating to a human, or logging for offline review — not silently dropped or retried forever.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BE3329-5427-E9F7-BFB7-DAB974E91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– 4:00  |  Hands-on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validated structured-output pipeline end to end.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739A67-E4CE-A038-BA86-1463D42C4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Overview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JSON schema for an assigned extraction task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a forced tool_choice call that guarantees schema-shaped output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validate-retry loop with a capped retry count and field-specific error feedback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clean, edge-case, and deliberately adversarial inputs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DF61B1-593B-175E-4627-7B46311CF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Define a JSON schema for your assigned extraction task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Wire up a forced tool_choice call guaranteeing schema-shaped output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Implement the validate-retry loop with a capped retry count and field-specific feedback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Test against clean, edge-case, and adversarial inputs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Log and review failure cases as a group — which error messages actually improved retry success?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F938A3-747D-FAC9-975C-8F739405C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Perform This Lab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lab — see the companion Lab Guide document for the detailed worksheet.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and note your assigned extraction task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“Help me design a JSON schema for extracting [your task fields], with required fields and enums where useful.”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define a tool using this schema, and confirm you will call it with tool_choice = tool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clean test input, then an edge-case input, then a deliberately adversarial input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invalid outputs, write field-specific feedback and resend as the next turn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8554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failure case in your worksheet, noting whether the retry succeeded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54041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group, compare which error messages actually improved retry success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45A7D6A-BA89-8C31-5EA1-C20E314B4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 deliverable must include testing against which three categories of input?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clean inputs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edge-case, and deliberately adversarial inputs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adversarial inputs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inputs that are known to already pass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0275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explicitly requires testing against clean inputs, edge-case inputs, and deliberately adversarial inputs to properly validate the pipeline.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5C2A29-347B-2B5F-6FD4-C479638CF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running your tests, what is the final step in the lab process?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results without 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review failure cases as a group to see which error messages improved retry success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failure logs to keep things clean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group review since it's optional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4023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explicitly ends with logging and reviewing failure cases as a group, specifically to identify which error messages actually improved retry success.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D4CA2EA-0DA7-C580-00E6-49805F8A5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retry loop has no maximum attempt count and keeps retrying indefinitely on a persistently malformed input. What does the lab guidance say to do instead?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retry forever — it will eventually succeed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retry count and escalate or log if it's still failing after the cap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schema entirely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tool_choice = auto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1774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validate-retry loop pattern explicitly calls for a bounded/capped attempt count, with escalation or logging for irrecoverable failures.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3762E0E-EE93-CD33-2CAB-7C143D97D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Day 3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Tools (model-invoked), Resources (host-attached), Prompts (user/host-surfaced) — know who decides to use each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errors need actionable detail so the model can self-correct, not just an isError flag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2–5 well-chosen examples; CoT helps multi-step reasoning but wastes budget on simple tasks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tool_choice = tool for guaranteed structured output, with field-specific validation-retry feedback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FC7F4A-0D60-AE22-94E5-343BAE34A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Exam Pitfalls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which MCP primitive is model-invoked (Tools) vs. host-attached (Resources) vs. user-surfaced (Prompts)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chain-of-thought to simple, latency-sensitive tasks where it only adds cost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generic ‘invalid’ retry feedback instead of field-specific validation errors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303CE4-C43B-33CC-9317-2FE7D706E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to Day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MCP and structured-output skills feed into Day 4's deployment and governance focus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covers Domain 5 plus an integration review and full mock assessment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validated structured-output pipeline — you will build on it tomorrow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92750D-EB30-DB80-B849-A8973FCF6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application wants to surface a reusable prompt template to the user, without the model itself choosing to invoke anything. Which MCP primitive is this?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595259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reusable templates surfaced to the user or host — not something the model decides to call, unlike a Tool.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5DC383D-61D5-76D6-056F-8DF0631A3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combines few-shot examples with chain-of-thought for a multi-step planning task. What should the worked examples include?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final answer, no reasoning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reasoning trace, not just the final answer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negative examples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at all, just CoT instructions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22676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few-shot with CoT means worked examples should show the full reasoning trace, teaching both the destination and the path there.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A674DFB-DA52-47A4-B0AF-3F505046B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structured-output pipeline keeps failing validation, and the team wants the retry to actually succeed more often. What single change helps most?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temperature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retry feedback point to the exact field and constraint violated, instead of a generic error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tool_choice = tool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schema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1025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field-level feedback pointing to the exact violated constraint is the single change most likely to improve retry success.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D141B74-1B31-7C47-0A00-1D7A9A0F3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69680" y="72420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100584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445752" y="72420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80069" y="91622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56141" y="63459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56141" y="119786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495056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521208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495056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512887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486735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539038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188720" y="5193792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88720" y="5394960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600200" y="5193792"/>
            <a:ext cx="914" cy="402336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24712" y="53309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36192" y="512978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536192" y="553212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4: Deployment, Governance &amp; Mock Assessment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any time between sessions.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3  |  Domain 2 &amp; Domain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BEC8EE0-6A59-473C-46BC-AF0B52CDB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6273383"/>
            <a:ext cx="2406483" cy="4994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2DEC5C8BF5284E81BD4C5AED9FC143" ma:contentTypeVersion="21" ma:contentTypeDescription="Create a new document." ma:contentTypeScope="" ma:versionID="bfc1964c0fb8b0b0f15cb08538983cdf">
  <xsd:schema xmlns:xsd="http://www.w3.org/2001/XMLSchema" xmlns:xs="http://www.w3.org/2001/XMLSchema" xmlns:p="http://schemas.microsoft.com/office/2006/metadata/properties" xmlns:ns1="http://schemas.microsoft.com/sharepoint/v3" xmlns:ns2="b0bb338f-7b42-4437-b836-3bba46acea74" xmlns:ns3="847b69b4-afc2-4d71-b6dd-a5b5c23f9e3f" xmlns:ns4="567d2312-0729-48ba-857e-77359d3146cd" targetNamespace="http://schemas.microsoft.com/office/2006/metadata/properties" ma:root="true" ma:fieldsID="c845ba8b66cb9afb1512695f3dd38e09" ns1:_="" ns2:_="" ns3:_="" ns4:_="">
    <xsd:import namespace="http://schemas.microsoft.com/sharepoint/v3"/>
    <xsd:import namespace="b0bb338f-7b42-4437-b836-3bba46acea74"/>
    <xsd:import namespace="847b69b4-afc2-4d71-b6dd-a5b5c23f9e3f"/>
    <xsd:import namespace="567d2312-0729-48ba-857e-77359d3146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Link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b338f-7b42-4437-b836-3bba46acea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inks" ma:index="20" nillable="true" ma:displayName="Links" ma:format="Hyperlink" ma:internalName="Link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6c96b7e-5bf0-4834-8b97-10d0cc9633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b69b4-afc2-4d71-b6dd-a5b5c23f9e3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d2312-0729-48ba-857e-77359d3146cd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729d132-36df-45cd-aba4-e5565f9ac6c9}" ma:internalName="TaxCatchAll" ma:showField="CatchAllData" ma:web="847b69b4-afc2-4d71-b6dd-a5b5c23f9e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b0bb338f-7b42-4437-b836-3bba46acea74">
      <Terms xmlns="http://schemas.microsoft.com/office/infopath/2007/PartnerControls"/>
    </lcf76f155ced4ddcb4097134ff3c332f>
    <Links xmlns="b0bb338f-7b42-4437-b836-3bba46acea74">
      <Url xsi:nil="true"/>
      <Description xsi:nil="true"/>
    </Links>
    <_ip_UnifiedCompliancePolicyProperties xmlns="http://schemas.microsoft.com/sharepoint/v3" xsi:nil="true"/>
    <TaxCatchAll xmlns="567d2312-0729-48ba-857e-77359d3146cd" xsi:nil="true"/>
  </documentManagement>
</p:properties>
</file>

<file path=customXml/itemProps1.xml><?xml version="1.0" encoding="utf-8"?>
<ds:datastoreItem xmlns:ds="http://schemas.openxmlformats.org/officeDocument/2006/customXml" ds:itemID="{64AFDD8F-1667-4583-BEE7-88E6D5780581}"/>
</file>

<file path=customXml/itemProps2.xml><?xml version="1.0" encoding="utf-8"?>
<ds:datastoreItem xmlns:ds="http://schemas.openxmlformats.org/officeDocument/2006/customXml" ds:itemID="{C74F4427-094E-43F6-8E5E-671AA73E2884}"/>
</file>

<file path=customXml/itemProps3.xml><?xml version="1.0" encoding="utf-8"?>
<ds:datastoreItem xmlns:ds="http://schemas.openxmlformats.org/officeDocument/2006/customXml" ds:itemID="{E00BE3C6-B82D-4EF4-8329-FC8DD674B6FF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4896</Words>
  <Application>Microsoft Office PowerPoint</Application>
  <PresentationFormat>Widescreen</PresentationFormat>
  <Paragraphs>721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Dr.Manish Kumar Jain</cp:lastModifiedBy>
  <cp:revision>3</cp:revision>
  <dcterms:created xsi:type="dcterms:W3CDTF">2026-08-17T09:00:53Z</dcterms:created>
  <dcterms:modified xsi:type="dcterms:W3CDTF">2026-08-23T11:13:23Z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0x010100C72DEC5C8BF5284E81BD4C5AED9FC143</vt:lpwstr>
  </property>
</Properties>
</file>