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36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77824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31316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9503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22995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22995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0120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0120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13612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51799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5291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05291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042416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42416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95908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34095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87587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87587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 flipV="1">
            <a:off x="877824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77824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1316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69503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2995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22995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 flipV="1">
            <a:off x="960120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0120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013612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51799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05291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05291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 flipV="1">
            <a:off x="9052560" y="4890211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052560" y="5212080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710928" y="4890211"/>
            <a:ext cx="914" cy="64373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950147" y="5109667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608515" y="4787798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608515" y="5431536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 flipV="1">
            <a:off x="10607040" y="5539435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0607040" y="5760720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059668" y="5539435"/>
            <a:ext cx="914" cy="4425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0536631" y="5690311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989259" y="546902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989259" y="591159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31520" y="1280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31520" y="16916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4: Context Management, Integration Lab &amp; Mock Exam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  ·  15%      +      Full Integration &amp; Assessment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31520" y="3794760"/>
            <a:ext cx="32004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1520" y="4023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73152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Day  |  Capstone Lab  |  Timed Mock Exam  |  Individual Study Plans</a:t>
            </a:r>
            <a:endParaRPr lang="en-US" sz="12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128D617-C5BE-6EA0-B4AB-1BF53B561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Your Final 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 covered Domains 1–4 individually; today adds Domain 5 and brings everything together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3230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design one complete architecture that touches all 5 domains, then sit a timed mock exam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954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afternoon review will help you build a targeted study plan for the days before your real exam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Day 1 topology diagram, Day 2 tool description, and Day 3 structured-output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B0AA2C-4BE9-6CED-922A-FA786BBA6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Course: All 5 Domains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Architecture &amp; 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&amp; Tooling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 &amp; Day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&amp; MCP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 Safety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Deployment, Governance &amp; Reliability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 (today)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68680" y="47548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+ 18 + 20 + 20 + 15 = 100% of the certification exam. After today, you will have touched every domain at least once.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9B7D12-2483-65C9-AE4D-0392FB03F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Schedule at a Glance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3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– 0:15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Day 3; open questions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0:15 – 1:15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management: lost-in-the-middle, scratchpads, caching, token budgets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2:15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lab: full architecture design across Domains 1–5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2:15 – 2:25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2:25 – 3:30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Timed mock exam: 30 scenario-based questions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3:30 – 4:00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exam review, score breakdown, individual study plans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98213E-B78D-375A-D24E-BBD781BCF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Learning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mitigations for the lost-in-the-middle effect in long-context prompts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57860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scratchpad and provenance strategy for a multi-step agent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4015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prompt caching correctly and manage a token budget across a long session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22452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Domains 1–5 into one end-to-end architecture for a client scenario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04748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 timed, exam-style mock assessment and build a targeted study plan from the results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7A9813-DEEF-1DD8-0F7A-B9501336A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Day 3 &amp; Open Questions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0:15  |  Discussion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recall check before today's integration and assessment.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D9789D2-5AE7-4AB0-FA41-B700B8BCA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Recall: Day 3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MCP's three primitives: Tools (model-invoked), Resources (host-attached), Prompts (user/host-surfaced)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2–5 well-chosen examples; CoT helps multi-step reasoning but wastes budget on simple tasks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validation-retry loop: parse → validate → feed specific error back → retry with a bounded count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490484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blockers from your Day 3 pipeline lab?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MCP or CoT question still unclear?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32826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Bring your pipeline — we'll reference it in today's capstone.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6C1401-A560-1BEC-9136-3ED76B6A6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3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wants to attach read-only contextual data addressed by URI, without the model deciding to invoke anything. Which MCP primitive is this?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1018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contextual data the host attaches, addressed by URI, distinct from model-invoked Tools.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2EC243F-C23D-31F5-D30C-EB1C9A0F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3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latency-sensitive extraction task is being designed. Should chain-of-thought be added?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always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CoT tends to hurt or waste budget on simple, latency-sensitive tasks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 negative examples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using MCP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6056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extraction and latency-sensitive paths are exactly the cases where CoT adds cost without an accuracy benefit.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F750FD4-4A66-45E2-644F-E3E1DAC8D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3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validation-retry loop keeps failing because the model only receives a generic 'invalid' message. What should change?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retry cap indefinitely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 the exact field and constraint violated instead of a generic message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schema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tool_choice = 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46389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field-level error feedback is what makes a retry far more likely to succeed.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9A2BF7F-198D-CF5E-BC11-719940503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Management &amp; Reliability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1:15  |  Lecture + Demo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Lost-in-the-middle, scratchpads, provenance, prompt caching, and token budgets.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DED58AE-F39B-3D0C-E73B-0C8D7F00F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Lost-in-the-Middle Effect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attend less reliably to information placed in the middle of a long context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at the very start or very end of a prompt tends to get more reliable attention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most for long documents, long conversation histories, and large tool-result dumps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D1C780-E75D-640D-FB35-6C0E2C33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Mitigating Lost-in-the-Middle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critical instructions and data at the start or end of the prompt, not buried in the middle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Re-state key facts again near the point where they're actually used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long contexts, consider restructuring so the model doesn't have to ‘remember’ across a huge span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426688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40-page loan policy document: put the specific clause needed for this decision near the question, not just once at the top.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99059F-698A-A65E-8122-FC8FB74B3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Scratchpads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 explicit space for intermediate reasoning or working notes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scratchpad separate from the final user-facing answer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for multi-step tasks and for auditability — you can see how the agent got there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DDBDDA-009E-23FC-9400-A2A061C95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retrieved content with its source — which document, which tool call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specific claims came from which source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citation and downstream fact-checking, which matters for compliance-sensitive answers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567C83-90C3-586D-7E2A-087B8E2D0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Caching: What's Worth Caching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cache_control breakpoints mark where cached content ends in your prompt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caching: large stable system prompts, tool definitions, long reference documents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worth caching: content that changes on every single turn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A7C387-5B75-66F4-81E4-D6D0AC609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Caching: Trade-offs &amp; Invalidation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reads are cheaper and faster than cache writes — but writing pays off across many reuses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upstream of the breakpoint busts (invalidates) the cache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prompt structure so stable content comes before frequently-changing content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449A83-BCB3-B3CD-E820-68B032FFB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Budgets: Ceilings &amp; Symptoms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context window has a hard ceiling — you cannot exceed it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of budget exhaustion: truncated responses, dropped early context, degraded quality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these symptoms proactively, don't just wait for a hard failure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429562-7045-7407-6834-D274B4B2A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Budgets: Compaction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older turns instead of keeping them verbatim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stale tool results that are no longer relevant to the current task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summarization — summaries of summaries for very long sessions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deliberately what to keep verbatim vs. what to summarize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4CA522E-F028-D3D8-A7B0-D6380FD7F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long-running agent session stays within budget while preserving what it actually needs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smart placement (avoid lost-in-the-middle), scratchpads for reasoning, provenance for trust, caching for cost, and compaction for longevity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design discipline, not a one-time fix — revisit it as the session grows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7E8905-EC3D-FA42-4D02-EAAAB496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Prompt Caching &amp; Lost-in-the-Middle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demo — follow along on your own laptop.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 with a long reference document pasted 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whose answer depends on a fact placed in the middle of the document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same question again, but this time restate the key fact near your question at the end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answer quality and confidence between the two attempts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in your own work involves long documents where this effect could bite you?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C24C1D-07F0-B27E-CF7A-AE24391DC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Context Management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client policy document has one critical clause the agent keeps missing when it's buried in page 20 of 40. What is the recommended fix?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document longer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Re-state the key clause near the point where it's actually used, or move it near the start/end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other content from the prompt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tool_choice = 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51171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lost-in-the-middle effect. The fix is to place critical information at the start/end or re-state it near where it's used.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A7207F-DBA9-B1C6-3D5A-F4A8465AB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Context Management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wants to cache a large, stable system prompt and a set of tool definitions that rarely change. What should they do?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caching entirely since it's never worth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cache_control breakpoint after the stable content, since it's a good caching candidate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part of the prompt that changes every turn instead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tool definitions to save tokens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2512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stable system prompts and tool definitions are exactly what's worth caching; a cache_control breakpoint should be set after this stable content.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8EE5F96-136E-C4C6-E5A1-7FAAF6328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Context Management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long-running agent session is approaching its context window ceiling. Which compaction strategy is most appropriate for older, no-longer-relevant tool results?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verbatim forever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stale tool results that are no longer relevant to the current task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context window ceiling manually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different model mid-session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561328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stale, no-longer-relevant tool results is one of the named compaction strategies for managing a token budget.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A976718-4D79-A457-9D46-67CF9D2B8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Lab: Full Architecture Design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2:15  |  Hands-on Lab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the entire four-day course into one end-to-end architecture.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C2E8DC-43CD-435E-0E8F-759519563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Overview &amp;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one detailed client scenario, design a complete, end-to-end architecture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every domain from the last 4 days in a single, coherent design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one-page architecture brief plus diagram, presented in 5 minutes per group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CB5603-E678-A941-B4B5-A8201C7DB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Steps by Domain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Produce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multi-agent topology diagram with justification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 and tools each agent needs, with structured error-handling 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Claude Code / CI workflow used to build, test, and ship the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prompting strategy: few-shot/CoT choices and structured-output schemas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context and reliability plan: caching strategy, token budget, scratchpad/provenance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entire course in one deliverable — every domain must show up somewhere in your brief.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D9EBCE-C0A0-DA6A-A3EF-C8A20F88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&amp; Presentation Format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architecture brief — concise, not a full report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diagram — hand-drawn or digital, showing the topology and major components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for 5 minutes per group, covering all 5 domains briefly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627D51-DE36-751E-023B-6FFC7149B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Perform the Capstone Lab in Claude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lab — see the companion Lab Guide document for the detailed worksheet.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 and paste in your assigned client scenario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“Propose a multi-agent topology for this scenario, with justification.” (Domain 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“What MCP servers and tools would each agent need? Include structured error-handling notes.” (Domain 2)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“Describe a Claude Code / CI workflow to build, test, and ship this system.” (Domain 3)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“Propose a prompting strategy — few-shot/CoT choices and structured-output schemas.” (Domain 4)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8554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“Write a context and reliability plan — caching, token budget, scratchpad/provenance.” (Domain 5)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54041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Claude's answers into your one-page brief and diagram, then rehearse your 5-minute presentation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4C9B308-ED66-5027-03BE-71078D9D9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Capstone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capstone brief for a fraud-investigation system proposes parallel independent checks aggregated by a coordinator, each with restricted tool access for audit reasons. Which two Domain 1 concepts does this combine?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and evaluator-optimizer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and subagent isolation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 alone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this is a Domain 3 concept only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5271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parallel checks aggregated by a coordinator is hub-and-spoke; restricted tool access per agent for audit reasons is subagent isolation.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1222E64-4A0F-239C-BDFD-F89C4FB6B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Capstone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brief must show a caching strategy for a large, rarely-changing compliance reference document used every turn. What is the right placement in your prompt design?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frequently-changing content, so it invalidates every turn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frequently-changing content, with a cache_control breakpoint set after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not be cached at 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replace the system prompt entirely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5271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content should sit before frequently-changing content, with a cache_control breakpoint set after it so it can be reused without invalidation.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183E970-CC79-3154-19F0-A06DB1FE0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Capstone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group's brief needs a structured-output schema for the final decision the system produces, guaranteed on every turn. What Domain 4 mechanism guarantees this?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auto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tool, forcing the specific extraction tool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with no schema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CLAUDE.md note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53477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a specific named tool with tool_choice = tool is what guarantees schema-shaped output on every single turn.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5C706C3-0B3A-CB65-2E85-D4168880C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828800" y="485912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512064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363724" y="485912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745590" y="503743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0514" y="477591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0514" y="529894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92720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118872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92720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110551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84399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136702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29260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2:15 – 2:25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away from the screen — the mock exam begins in 10 minutes.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958906-AB9C-AB0A-96D9-69CE90BED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Timed Mock Exam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2:25 – 3:30  |  Assessment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scenario-based questions — a half-length practice set.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4CC5EF-E15F-11F9-FDC1-03E2416DA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Exam Format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scenario-based questions — a half-length practice set of the real exam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multiple-choice (1 correct answer) and multiple-response (2+ correct answers) items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to simulate real exam pacing, at half length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4962B3-09AB-A352-FF9B-CE6E0AF48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Exam Logistics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— no slides, lab guides, or external searches during the timed window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individually and in silence, exactly like the real certification exam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your answers on the answer sheet in your Lab Guide as you go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9E2645-05A9-9428-EAC1-507E305B9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Coverage by Domain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Questions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1 — Agentic Architecture &amp; 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2 — Implementation &amp; Tooling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5–6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3 — Claude Code &amp; MCP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4 — Evaluation &amp; Safety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5 — Deployment, Governance &amp; Reliability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4–5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real exam's domain weighting — practicing at this ratio builds realistic pacing habits.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DFD003-4003-3AAC-B2D1-2F19B9F26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Exam-Taking Tips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uncertain questions and return to them later — don't get stuck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obviously wrong options first to narrow your choice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closely for questions testing discrimination between topologies, stop_reason values, or tool_choice modes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9497A9-33E7-397E-3219-E959A8BFD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needs a generator agent and a critic agent that repeat until an explicit quality bar is met. Which topology is this?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9F6C748-E1C7-B16F-4EA6-2071E233E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/ Domain 3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result is flagged so the model knows something went wrong, with enough detail to try a different approach. Which MCP concept is being used?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cache_control breakpoint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isError flag with actionable error detail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primitive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none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96E39E1-15F4-F480-E2AC-A93B72EF9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needs every response to be schema-shaped with no exceptions. Which configuration guarantees this?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auto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any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tool, forcing the specific tool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none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3D89D00-84DF-D7C3-3532-9F1035A8C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fact is buried in the middle of a 30-page document and the agent keeps missing it. What should the team do?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document even longer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Re-state the fact near where it's used, or move it near the start/end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prompt caching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hub-and-spoke topology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35D37FB-70F2-71F2-EC22-C8CFDCAF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wants a permission model with the strictest possible safeguards for their production core-banking repository. Which configuration fits best?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Deny-list with auto-accept edits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with plan mode and per-tool confirmation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 model at all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with auto-accept edits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8174C52-2BAF-7791-0EB7-F33CB07E0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pipeline stage must gate PR merges automatically and never run away in cost. Which two features are essential?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 output and no caps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with exit codes, plus turn/token caps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only, no other controls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edits with no logging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D4D303D-80CB-4B72-2CA7-6D956F59D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Exam Review &amp; Study Plans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– 4:00  |  Discussion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today's results into a focused plan for the days ahead.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4FDA8E8-37DD-40F1-002C-E187C0BD3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Process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missed questions by domain, one at a time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missed question back to the specific day and session where the concept was first covered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identify patterns — is it one domain, or one type of question, that's tripping you up?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3A081C-2CF2-B865-EE26-CE25E4FEC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Breakdown by Domain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your percentage correct within each domain separately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per-domain percentage against that domain's exam weight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remaining study time toward domains that are both weak and heavily weighted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892040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1 (27% weight): scored 60% — high priority to review.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5 (15% weight): scored 60% — lower priority than Domain 1 despite same score.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B158FD-05D6-5E60-30B5-DC7FCF388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Individual Study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weakest domain(s) from today's score breakdown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specific topics to re-review within each weak domain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recommended practice resources and a target re-test date, if applicable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27B73C-AE98-C8FE-E0DF-71EE047E5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Interpret Your Score</a:t>
            </a:r>
            <a:endParaRPr lang="en-US" sz="2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gaps — re-review the full domain from scratch before your real exam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gaps — focus on the specific missed topics, not the whole 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— targeted review of missed questions should be enough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and above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light revision, you're likely exam-ready in this 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alongside domain weight: a weak score in a heavily-weighted domain is always the top priority.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C1ED5A-8044-4D7E-63EE-A2839C60A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Resources &amp; Support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each day's slide deck and Lab Guide for reference tables and diagrams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any lab exercise you found difficult in your own Claude environment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Dr. Manish Kumar Jain with any remaining questions before your real exam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0AD965-4324-D054-C157-ECC5C8198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4-Day Journey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57400" y="16002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&amp; Orchestration — the loop, stop_reason, and 4 topologies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57400" y="25603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Workflows &amp; MCP — CLAUDE.md, Skills, CI/CD, tool design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57400" y="35204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&amp; Prompt Engineering — MCP primitives, few-shot/CoT, structured output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57400" y="44805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Management, Integration Lab &amp; Mock Exam — bringing it all together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AA82B5-8494-4A22-9DF7-EB13FDBE1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Certification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individual study plan for any remaining weak domains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domain reference tables and diagrams from each day's slide deck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your official certification exam once you feel confident across all 5 domains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B0AE99-0C09-8F6D-EE1F-0429BD63E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69680" y="72420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100584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445752" y="72420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80069" y="91622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356141" y="63459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56141" y="119786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495056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521208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495056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512887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486735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539038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188720" y="5193792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88720" y="5394960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600200" y="5193792"/>
            <a:ext cx="914" cy="402336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24712" y="53309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536192" y="512978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536192" y="553212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Congratulations!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31520" y="3017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completed all 4 days of the Claude Certification Prep Program.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on your certification exam — reach out any time with questions.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F3171BD-B85F-1ECB-4B5F-00644E2AE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2DEC5C8BF5284E81BD4C5AED9FC143" ma:contentTypeVersion="21" ma:contentTypeDescription="Create a new document." ma:contentTypeScope="" ma:versionID="bfc1964c0fb8b0b0f15cb08538983cdf">
  <xsd:schema xmlns:xsd="http://www.w3.org/2001/XMLSchema" xmlns:xs="http://www.w3.org/2001/XMLSchema" xmlns:p="http://schemas.microsoft.com/office/2006/metadata/properties" xmlns:ns1="http://schemas.microsoft.com/sharepoint/v3" xmlns:ns2="b0bb338f-7b42-4437-b836-3bba46acea74" xmlns:ns3="847b69b4-afc2-4d71-b6dd-a5b5c23f9e3f" xmlns:ns4="567d2312-0729-48ba-857e-77359d3146cd" targetNamespace="http://schemas.microsoft.com/office/2006/metadata/properties" ma:root="true" ma:fieldsID="c845ba8b66cb9afb1512695f3dd38e09" ns1:_="" ns2:_="" ns3:_="" ns4:_="">
    <xsd:import namespace="http://schemas.microsoft.com/sharepoint/v3"/>
    <xsd:import namespace="b0bb338f-7b42-4437-b836-3bba46acea74"/>
    <xsd:import namespace="847b69b4-afc2-4d71-b6dd-a5b5c23f9e3f"/>
    <xsd:import namespace="567d2312-0729-48ba-857e-77359d3146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Link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b338f-7b42-4437-b836-3bba46acea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inks" ma:index="20" nillable="true" ma:displayName="Links" ma:format="Hyperlink" ma:internalName="Link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6c96b7e-5bf0-4834-8b97-10d0cc9633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b69b4-afc2-4d71-b6dd-a5b5c23f9e3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d2312-0729-48ba-857e-77359d3146cd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729d132-36df-45cd-aba4-e5565f9ac6c9}" ma:internalName="TaxCatchAll" ma:showField="CatchAllData" ma:web="847b69b4-afc2-4d71-b6dd-a5b5c23f9e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b0bb338f-7b42-4437-b836-3bba46acea74">
      <Terms xmlns="http://schemas.microsoft.com/office/infopath/2007/PartnerControls"/>
    </lcf76f155ced4ddcb4097134ff3c332f>
    <Links xmlns="b0bb338f-7b42-4437-b836-3bba46acea74">
      <Url xsi:nil="true"/>
      <Description xsi:nil="true"/>
    </Links>
    <_ip_UnifiedCompliancePolicyProperties xmlns="http://schemas.microsoft.com/sharepoint/v3" xsi:nil="true"/>
    <TaxCatchAll xmlns="567d2312-0729-48ba-857e-77359d3146cd" xsi:nil="true"/>
  </documentManagement>
</p:properties>
</file>

<file path=customXml/itemProps1.xml><?xml version="1.0" encoding="utf-8"?>
<ds:datastoreItem xmlns:ds="http://schemas.openxmlformats.org/officeDocument/2006/customXml" ds:itemID="{56FD3A3D-781E-4F92-84CC-1084E7E02136}"/>
</file>

<file path=customXml/itemProps2.xml><?xml version="1.0" encoding="utf-8"?>
<ds:datastoreItem xmlns:ds="http://schemas.openxmlformats.org/officeDocument/2006/customXml" ds:itemID="{52A03B55-A0E5-4352-9EBD-4A953FFC1014}"/>
</file>

<file path=customXml/itemProps3.xml><?xml version="1.0" encoding="utf-8"?>
<ds:datastoreItem xmlns:ds="http://schemas.openxmlformats.org/officeDocument/2006/customXml" ds:itemID="{11472C28-100C-4B5C-A8E7-63818B1051D7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4287</Words>
  <Application>Microsoft Office PowerPoint</Application>
  <PresentationFormat>Widescreen</PresentationFormat>
  <Paragraphs>637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Dr.Manish Kumar Jain</cp:lastModifiedBy>
  <cp:revision>2</cp:revision>
  <dcterms:created xsi:type="dcterms:W3CDTF">2026-08-17T10:28:15Z</dcterms:created>
  <dcterms:modified xsi:type="dcterms:W3CDTF">2026-08-23T11:17:35Z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0x010100C72DEC5C8BF5284E81BD4C5AED9FC143</vt:lpwstr>
  </property>
</Properties>
</file>