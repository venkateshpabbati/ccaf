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customXml" Target="../customXml/item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360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778240" y="56144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778240" y="82296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313164" y="56144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95030" y="73975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229954" y="47823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229954" y="100126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9601200" y="56144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01200" y="82296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136124" y="56144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517990" y="73975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052914" y="47823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052914" y="100126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 flipV="1">
            <a:off x="10424160" y="56144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424160" y="82296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0959084" y="56144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0340950" y="73975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0875874" y="47823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0875874" y="100126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 flipV="1">
            <a:off x="8778240" y="156728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778240" y="182880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313164" y="156728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695030" y="174559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229954" y="148407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229954" y="200710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 flipV="1">
            <a:off x="9601200" y="156728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601200" y="182880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0136124" y="156728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517990" y="174559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0052914" y="148407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0052914" y="200710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 flipV="1">
            <a:off x="9052560" y="4890211"/>
            <a:ext cx="658368" cy="321869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052560" y="5212080"/>
            <a:ext cx="658368" cy="321869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9710928" y="4890211"/>
            <a:ext cx="914" cy="64373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950147" y="5109667"/>
            <a:ext cx="204826" cy="204826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9608515" y="4787798"/>
            <a:ext cx="204826" cy="204826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9608515" y="5431536"/>
            <a:ext cx="204826" cy="204826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 flipV="1">
            <a:off x="10607040" y="5539435"/>
            <a:ext cx="452628" cy="22128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10607040" y="5760720"/>
            <a:ext cx="452628" cy="22128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1059668" y="5539435"/>
            <a:ext cx="914" cy="4425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10536631" y="5690311"/>
            <a:ext cx="140818" cy="14081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0989259" y="5469026"/>
            <a:ext cx="140818" cy="14081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10989259" y="5911596"/>
            <a:ext cx="140818" cy="14081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31520" y="1280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31520" y="169164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4: Context Management, Integration Lab &amp; Mock Exam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5  ·  15%      +      Full Integration &amp; Assessment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731520" y="3794760"/>
            <a:ext cx="32004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31520" y="4023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Manish Kumar Jain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731520" y="4434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Project Manager &amp; Technical Consultant  |  Enterprise AI Training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3152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Day  |  Capstone Lab  |  Timed Mock Exam  |  Individual Study Plans</a:t>
            </a:r>
            <a:endParaRPr lang="en-US" sz="125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2128D617-C5BE-6EA0-B4AB-1BF53B561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Your Final Day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65506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 covered Domains 1–4 individually; today adds Domain 5 and brings everything together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3230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design one complete architecture that touches all 5 domains, then sit a timed mock exam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0954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afternoon review will help you build a targeted study plan for the days before your real exam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867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Day 1 topology diagram, Day 2 tool description, and Day 3 structured-output pipeline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2B0AA2C-4BE9-6CED-922A-FA786BBA6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Course: All 5 Domains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30175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 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Architecture &amp; Orchestration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Design &amp; MCP Integration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2 &amp; Day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Configuration &amp; Workflows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Engineering &amp; Structured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Management &amp; Reliability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4 (today)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57200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68680" y="47548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+ 18 + 20 + 20 + 15 = 100% of the certification exam. After today, you will have touched every domain at least once.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9B7D12-2483-65C9-AE4D-0392FB03F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 Schedule at a Glance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37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 – 0:15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Recap Day 3; open questions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0:15 – 1:15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management: lost-in-the-middle, scratchpads, caching, token budgets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+ 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 – 2:15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Capstone lab: full architecture design across Domains 1–5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Lab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2:15 – 2:25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2:25 – 3:30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Timed mock exam: 30 scenario-based questions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3:30 – 4:00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exam review, score breakdown, individual study plans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98213E-B78D-375A-D24E-BBD781BCF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 Learning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75564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mitigations for the lost-in-the-middle effect in long-context prompts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57860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scratchpad and provenance strategy for a multi-step agent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40156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prompt caching correctly and manage a token budget across a long session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22452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Domains 1–5 into one end-to-end architecture for a client scenario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04748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a timed, exam-style mock assessment and build a targeted study plan from the results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7A9813-DEEF-1DD8-0F7A-B9501336A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Day 3 &amp; Open Questions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0:15  |  Discussion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recall check before today's integration and assessment.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D9789D2-5AE7-4AB0-FA41-B700B8BCA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Recall: Day 3 Concepts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MCP's three primitives: Tools (model-invoked), Resources (host-attached), Prompts (user/host-surfaced)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2–5 well-chosen examples; CoT helps multi-step reasoning but wastes budget on simple tasks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validation-retry loop: parse → validate → feed specific error back → retry with a bounded count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818120" y="1371600"/>
            <a:ext cx="3794760" cy="4490484"/>
          </a:xfrm>
          <a:prstGeom prst="roundRect">
            <a:avLst>
              <a:gd name="adj" fmla="val 241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0" y="1536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0" y="19659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blockers from your Day 3 pipeline lab?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0" y="262432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MCP or CoT question still unclear?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46720" y="3282696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Bring your pipeline — we'll reference it in today's capstone.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6C1401-A560-1BEC-9136-3ED76B6A6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Day 3 Recap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 wants to attach read-only contextual data addressed by URI, without the model deciding to invoke anything. Which MCP primitive is this?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710184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contextual data the host attaches, addressed by URI, distinct from model-invoked Tools.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2EC243F-C23D-31F5-D30C-EB1C9A0F2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Day 3 Recap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latency-sensitive extraction task is being designed. Should chain-of-thought be added?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always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CoT tends to hurt or waste budget on simple, latency-sensitive tasks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with negative examples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using MCP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60565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extraction and latency-sensitive paths are exactly the cases where CoT adds cost without an accuracy benefit.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F750FD4-4A66-45E2-644F-E3E1DAC8D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Day 3 Recap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validation-retry loop keeps failing because the model only receives a generic 'invalid' message. What should change?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retry cap indefinitely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back the exact field and constraint violated instead of a generic message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schema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tool_choice = none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46389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field-level error feedback is what makes a retry far more likely to succeed.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9A2BF7F-198D-CF5E-BC11-719940503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Management &amp; Reliability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 – 1:15  |  Lecture + Demo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Lost-in-the-middle, scratchpads, provenance, prompt caching, and token budgets.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DED58AE-F39B-3D0C-E73B-0C8D7F00F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Lost-in-the-Middle Effect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attend less reliably to information placed in the middle of a long context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at the very start or very end of a prompt tends to get more reliable attention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most for long documents, long conversation histories, and large tool-result dumps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D1C780-E75D-640D-FB35-6C0E2C33E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Mitigating Lost-in-the-Middle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critical instructions and data at the start or end of the prompt, not buried in the middle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Re-state key facts again near the point where they're actually used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very long contexts, consider restructuring so the model doesn't have to ‘remember’ across a huge span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818120" y="1371600"/>
            <a:ext cx="3794760" cy="4426688"/>
          </a:xfrm>
          <a:prstGeom prst="roundRect">
            <a:avLst>
              <a:gd name="adj" fmla="val 241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0" y="1536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example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0" y="19659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40-page loan policy document: put the specific clause needed for this decision near the question, not just once at the top.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E99059F-698A-A65E-8122-FC8FB74B3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Scratchpads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 explicit space for intermediate reasoning or working notes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scratchpad separate from the final user-facing answer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useful for multi-step tasks and for auditability — you can see how the agent got there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DDBDDA-009E-23FC-9400-A2A061C95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retrieved content with its source — which document, which tool call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which specific claims came from which source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citation and downstream fact-checking, which matters for compliance-sensitive answers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567C83-90C3-586D-7E2A-087B8E2D0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Caching: What's Worth Caching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cache_control breakpoints mark where cached content ends in your prompt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caching: large stable system prompts, tool definitions, long reference documents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worth caching: content that changes on every single turn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AA7C387-5B75-66F4-81E4-D6D0AC609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Caching: Trade-offs &amp; Invalidation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reads are cheaper and faster than cache writes — but writing pays off across many reuses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upstream of the breakpoint busts (invalidates) the cache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your prompt structure so stable content comes before frequently-changing content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449A83-BCB3-B3CD-E820-68B032FFB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Budgets: Ceilings &amp; Symptoms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context window has a hard ceiling — you cannot exceed it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of budget exhaustion: truncated responses, dropped early context, degraded quality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these symptoms proactively, don't just wait for a hard failure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3429562-7045-7407-6834-D274B4B2A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Budgets: Compaction Strategies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older turns instead of keeping them verbatim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stale tool results that are no longer relevant to the current task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summarization — summaries of summaries for very long sessions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deliberately what to keep verbatim vs. what to summarize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4CA522E-F028-D3D8-A7B0-D6380FD7F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well-designed long-running agent session stays within budget while preserving what it actually needs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Combine: smart placement (avoid lost-in-the-middle), scratchpads for reasoning, provenance for trust, caching for cost, and compaction for longevity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design discipline, not a one-time fix — revisit it as the session grows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67E8905-EC3D-FA42-4D02-EAAAB496F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91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ACTIVITY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Prompt Caching &amp; Lost-in-the-Middle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Trainer-led demo — follow along on your own laptop.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perform this in Claude: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122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Claude chat with a long reference document pasted 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6609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whose answer depends on a fact placed in the middle of the document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2095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same question again, but this time restate the key fact near your question at the end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5818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answer quality and confidence between the two attempts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3068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what in your own work involves long documents where this effect could bite you?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7C24C1D-07F0-B27E-CF7A-AE24391DC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Context Management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client policy document has one critical clause the agent keeps missing when it's buried in page 20 of 40. What is the recommended fix?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document longer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Re-state the key clause near the point where it's actually used, or move it near the start/end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other content from the prompt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tool_choice = none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51171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lost-in-the-middle effect. The fix is to place critical information at the start/end or re-state it near where it's used.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9A7207F-DBA9-B1C6-3D5A-F4A8465AB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Context Management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wants to cache a large, stable system prompt and a set of tool definitions that rarely change. What should they do?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caching entirely since it's never worth 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cache_control breakpoint after the stable content, since it's a good caching candidate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the part of the prompt that changes every turn instead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tool definitions to save tokens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25124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stable system prompts and tool definitions are exactly what's worth caching; a cache_control breakpoint should be set after this stable content.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8EE5F96-136E-C4C6-E5A1-7FAAF6328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Context Management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long-running agent session is approaching its context window ceiling. Which compaction strategy is most appropriate for older, no-longer-relevant tool results?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everything verbatim forever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stale tool results that are no longer relevant to the current task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context window ceiling manually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 different model mid-session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561328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stale, no-longer-relevant tool results is one of the named compaction strategies for managing a token budget.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A976718-4D79-A457-9D46-67CF9D2B8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Lab: Full Architecture Design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 – 2:15  |  Hands-on Lab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the entire four-day course into one end-to-end architecture.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EC2E8DC-43CD-435E-0E8F-759519563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Overview &amp;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one detailed client scenario, design a complete, end-to-end architecture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every domain from the last 4 days in a single, coherent design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 one-page architecture brief plus diagram, presented in 5 minutes per group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ECB5603-E678-A941-B4B5-A8201C7DB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Steps by Domain</a:t>
            </a:r>
            <a:endParaRPr lang="en-US" sz="2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3566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Produce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multi-agent topology diagram with justification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servers and tools each agent needs, with structured error-handling 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Claude Code / CI workflow used to build, test, and ship the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prompting strategy: few-shot/CoT choices and structured-output schemas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context and reliability plan: caching strategy, token budget, scratchpad/provenance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68680" y="53035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entire course in one deliverable — every domain must show up somewhere in your brief.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D9EBCE-C0A0-DA6A-A3EF-C8A20F888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&amp; Presentation Format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architecture brief — concise, not a full report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diagram — hand-drawn or digital, showing the topology and major components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for 5 minutes per group, covering all 5 domains briefly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627D51-DE36-751E-023B-6FFC7149B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91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ACTIVITY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Perform the Capstone Lab in Claude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lab — see the companion Lab Guide document for the detailed worksheet.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perform this in Claude: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122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Claude chat and paste in your assigned client scenario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6609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Claude: “Propose a multi-agent topology for this scenario, with justification.” (Domain 1)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2095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“What MCP servers and tools would each agent need? Include structured error-handling notes.” (Domain 2)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5818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“Describe a Claude Code / CI workflow to build, test, and ship this system.” (Domain 3)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3068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“Propose a prompting strategy — few-shot/CoT choices and structured-output schemas.” (Domain 4)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8554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“Write a context and reliability plan — caching, token budget, scratchpad/provenance.” (Domain 5)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3949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5394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54041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Claude's answers into your one-page brief and diagram, then rehearse your 5-minute presentation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4C9B308-ED66-5027-03BE-71078D9D9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Capstone Lab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capstone brief for a fraud-investigation system proposes parallel independent checks aggregated by a coordinator, each with restricted tool access for audit reasons. Which two Domain 1 concepts does this combine?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 and evaluator-optimizer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and subagent isolation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Evaluator-optimizer alone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this is a Domain 3 concept only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752714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parallel checks aggregated by a coordinator is hub-and-spoke; restricted tool access per agent for audit reasons is subagent isolation.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1222E64-4A0F-239C-BDFD-F89C4FB6B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Capstone Lab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brief must show a caching strategy for a large, rarely-changing compliance reference document used every turn. What is the right placement in your prompt design?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frequently-changing content, so it invalidates every turn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frequently-changing content, with a cache_control breakpoint set after 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not be cached at all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replace the system prompt entirely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752714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content should sit before frequently-changing content, with a cache_control breakpoint set after it so it can be reused without invalidation.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183E970-CC79-3154-19F0-A06DB1FE0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Capstone Lab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group's brief needs a structured-output schema for the final decision the system produces, guaranteed on every turn. What Domain 4 mechanism guarantees this?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= auto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= tool, forcing the specific extraction tool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with no schema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CLAUDE.md note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53477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a specific named tool with tool_choice = tool is what guarantees schema-shaped output on every single turn.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5C706C3-0B3A-CB65-2E85-D4168880C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828800" y="485912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512064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363724" y="485912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745590" y="503743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0514" y="477591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0514" y="529894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9692640" y="927202"/>
            <a:ext cx="534924" cy="26151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92640" y="1188720"/>
            <a:ext cx="534924" cy="26151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227564" y="927202"/>
            <a:ext cx="914" cy="523037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609430" y="1105510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144354" y="843991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144354" y="1367028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0" y="2468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BREAK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0" y="29260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2:15 – 2:25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away from the screen — the mock exam begins in 10 minutes.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8958906-AB9C-AB0A-96D9-69CE90BED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Timed Mock Exam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2:25 – 3:30  |  Assessment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scenario-based questions — a half-length practice set.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64CC5EF-E15F-11F9-FDC1-03E2416DA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Exam Format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scenario-based questions — a half-length practice set of the real exam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multiple-choice (1 correct answer) and multiple-response (2+ correct answers) items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to simulate real exam pacing, at half length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4962B3-09AB-A352-FF9B-CE6E0AF48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Exam Logistics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Closed-book — no slides, lab guides, or external searches during the timed window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individually and in silence, exactly like the real certification exam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your answers on the answer sheet in your Lab Guide as you go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19E2645-05A9-9428-EAC1-507E305B9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Approximate Coverage by Domain</a:t>
            </a:r>
            <a:endParaRPr lang="en-US" sz="2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3566160"/>
        </p:xfrm>
        <a:graphic>
          <a:graphicData uri="http://schemas.openxmlformats.org/drawingml/2006/table">
            <a:tbl>
              <a:tblPr/>
              <a:tblGrid>
                <a:gridCol w="73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 Questions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1 — Agentic Architecture &amp; Orchestration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2 — Implementation &amp; Tooling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5–6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3 — Claude Code &amp; MCP Integration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4 — Evaluation &amp; Safety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5 — Deployment, Governance &amp; Reliability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4–5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68680" y="53035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the real exam's domain weighting — practicing at this ratio builds realistic pacing habits.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DFD003-4003-3AAC-B2D1-2F19B9F26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Exam-Taking Tips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uncertain questions and return to them later — don't get stuck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obviously wrong options first to narrow your choice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closely for questions testing discrimination between topologies, stop_reason values, or tool_choice modes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9497A9-33E7-397E-3219-E959A8BFD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EXAM ITEM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291840" y="365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needs a generator agent and a critic agent that repeat until an explicit quality bar is met. Which topology is this?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Evaluator-optimizer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isolation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44982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style and difficulty of items on your timed mock exam — the full 30-question set is in your Lab Guide.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9F6C748-E1C7-B16F-4EA6-2071E233E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EXAM ITEM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291840" y="365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 / Domain 3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result is flagged so the model knows something went wrong, with enough detail to try a different approach. Which MCP concept is being used?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cache_control breakpoint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isError flag with actionable error detail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Resource primitive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= none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44982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style and difficulty of items on your timed mock exam — the full 30-question set is in your Lab Guide.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96E39E1-15F4-F480-E2AC-A93B72EF9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EXAM ITEM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291840" y="365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needs every response to be schema-shaped with no exceptions. Which configuration guarantees this?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= auto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= any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= tool, forcing the specific tool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= none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44982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style and difficulty of items on your timed mock exam — the full 30-question set is in your Lab Guide.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3D89D00-84DF-D7C3-3532-9F1035A8C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EXAM ITEM 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291840" y="365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5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fact is buried in the middle of a 30-page document and the agent keeps missing it. What should the team do?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document even longer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Re-state the fact near where it's used, or move it near the start/end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prompt caching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 hub-and-spoke topology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44982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style and difficulty of items on your timed mock exam — the full 30-question set is in your Lab Guide.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35D37FB-70F2-71F2-EC22-C8CFDCAF3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EXAM ITEM 5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291840" y="365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wants a permission model with the strictest possible safeguards for their production core-banking repository. Which configuration fits best?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Deny-list with auto-accept edits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with plan mode and per-tool confirmation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permission model at all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with auto-accept edits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44982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style and difficulty of items on your timed mock exam — the full 30-question set is in your Lab Guide.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8174C52-2BAF-7791-0EB7-F33CB07E0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EXAM ITEM 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291840" y="365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 pipeline stage must gate PR merges automatically and never run away in cost. Which two features are essential?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text output and no caps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 with exit codes, plus turn/token caps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 only, no other controls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 edits with no logging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44982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style and difficulty of items on your timed mock exam — the full 30-question set is in your Lab Guide.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D4D303D-80CB-4B72-2CA7-6D956F59D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Exam Review &amp; Study Plans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 – 4:00  |  Discussion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today's results into a focused plan for the days ahead.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4FDA8E8-37DD-40F1-002C-E187C0BD3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Process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missed questions by domain, one at a time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each missed question back to the specific day and session where the concept was first covered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to identify patterns — is it one domain, or one type of question, that's tripping you up?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3A081C-2CF2-B865-EE26-CE25E4FEC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Breakdown by Domain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your percentage correct within each domain separately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your per-domain percentage against that domain's exam weight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remaining study time toward domains that are both weak and heavily weighted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818120" y="1371600"/>
            <a:ext cx="3794760" cy="4892040"/>
          </a:xfrm>
          <a:prstGeom prst="roundRect">
            <a:avLst>
              <a:gd name="adj" fmla="val 241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0" y="1536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0" y="19659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Domain 1 (27% weight): scored 60% — high priority to review.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0" y="262432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Domain 5 (15% weight): scored 60% — lower priority than Domain 1 despite same score.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7B158FD-05D6-5E60-30B5-DC7FCF388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Individual Study Plan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your weakest domain(s) from today's score breakdown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specific topics to re-review within each weak domain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recommended practice resources and a target re-test date, if applicable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127B73C-AE98-C8FE-E0DF-71EE047E5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Interpret Your Score</a:t>
            </a:r>
            <a:endParaRPr lang="en-US" sz="22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35661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gaps — re-review the full domain from scratch before your real exam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gaps — focus on the specific missed topics, not the whole domain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— targeted review of missed questions should be enough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 and above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— light revision, you're likely exam-ready in this domain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68680" y="53035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alongside domain weight: a weak score in a heavily-weighted domain is always the top priority.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C1ED5A-8044-4D7E-63EE-A2839C60A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Resources &amp; Support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each day's slide deck and Lab Guide for reference tables and diagrams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any lab exercise you found difficult in your own Claude environment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to Dr. Manish Kumar Jain with any remaining questions before your real exam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10AD965-4324-D054-C157-ECC5C8198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4-Day Journey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057400" y="160020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Architecture &amp; Orchestration — the loop, stop_reason, and 4 topologies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57400" y="256032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Workflows &amp; MCP — CLAUDE.md, Skills, CI/CD, tool design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47472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57400" y="35204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 &amp; Prompt Engineering — MCP primitives, few-shot/CoT, structured output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57400" y="44805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Management, Integration Lab &amp; Mock Exam — bringing it all together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0AA82B5-8494-4A22-9DF7-EB13FDBE1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Certification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your individual study plan for any remaining weak domains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the domain reference tables and diagrams from each day's slide deck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your official certification exam once you feel confident across all 5 domains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B0AE99-0C09-8F6D-EE1F-0429BD63E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69680" y="72420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69680" y="100584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445752" y="72420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780069" y="91622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356141" y="63459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356141" y="119786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9692640" y="4950562"/>
            <a:ext cx="534924" cy="26151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92640" y="5212080"/>
            <a:ext cx="534924" cy="26151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227564" y="4950562"/>
            <a:ext cx="914" cy="523037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609430" y="5128870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144354" y="4867351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144354" y="5390388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 flipV="1">
            <a:off x="1188720" y="5193792"/>
            <a:ext cx="411480" cy="20116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188720" y="5394960"/>
            <a:ext cx="411480" cy="20116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600200" y="5193792"/>
            <a:ext cx="914" cy="402336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124712" y="533095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536192" y="512978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536192" y="553212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Congratulations!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31520" y="3017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completed all 4 days of the Claude Certification Prep Program.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3703320"/>
            <a:ext cx="2743200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3152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Manish Kumar Jain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Project Manager &amp; Technical Consultant  |  Enterprise AI Training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luck on your certification exam — reach out any time with questions.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4  |  Domain 5 &amp; Full Integration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F3171BD-B85F-1ECB-4B5F-00644E2AE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301563"/>
            <a:ext cx="2229293" cy="4475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2DEC5C8BF5284E81BD4C5AED9FC143" ma:contentTypeVersion="21" ma:contentTypeDescription="Create a new document." ma:contentTypeScope="" ma:versionID="bfc1964c0fb8b0b0f15cb08538983cdf">
  <xsd:schema xmlns:xsd="http://www.w3.org/2001/XMLSchema" xmlns:xs="http://www.w3.org/2001/XMLSchema" xmlns:p="http://schemas.microsoft.com/office/2006/metadata/properties" xmlns:ns1="http://schemas.microsoft.com/sharepoint/v3" xmlns:ns2="b0bb338f-7b42-4437-b836-3bba46acea74" xmlns:ns3="847b69b4-afc2-4d71-b6dd-a5b5c23f9e3f" xmlns:ns4="567d2312-0729-48ba-857e-77359d3146cd" targetNamespace="http://schemas.microsoft.com/office/2006/metadata/properties" ma:root="true" ma:fieldsID="c845ba8b66cb9afb1512695f3dd38e09" ns1:_="" ns2:_="" ns3:_="" ns4:_="">
    <xsd:import namespace="http://schemas.microsoft.com/sharepoint/v3"/>
    <xsd:import namespace="b0bb338f-7b42-4437-b836-3bba46acea74"/>
    <xsd:import namespace="847b69b4-afc2-4d71-b6dd-a5b5c23f9e3f"/>
    <xsd:import namespace="567d2312-0729-48ba-857e-77359d3146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Links" minOccurs="0"/>
                <xsd:element ref="ns2:lcf76f155ced4ddcb4097134ff3c332f" minOccurs="0"/>
                <xsd:element ref="ns4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bb338f-7b42-4437-b836-3bba46acea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inks" ma:index="20" nillable="true" ma:displayName="Links" ma:format="Hyperlink" ma:internalName="Link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6c96b7e-5bf0-4834-8b97-10d0cc9633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7b69b4-afc2-4d71-b6dd-a5b5c23f9e3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7d2312-0729-48ba-857e-77359d3146cd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c729d132-36df-45cd-aba4-e5565f9ac6c9}" ma:internalName="TaxCatchAll" ma:showField="CatchAllData" ma:web="847b69b4-afc2-4d71-b6dd-a5b5c23f9e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b0bb338f-7b42-4437-b836-3bba46acea74">
      <Terms xmlns="http://schemas.microsoft.com/office/infopath/2007/PartnerControls"/>
    </lcf76f155ced4ddcb4097134ff3c332f>
    <Links xmlns="b0bb338f-7b42-4437-b836-3bba46acea74">
      <Url xsi:nil="true"/>
      <Description xsi:nil="true"/>
    </Links>
    <_ip_UnifiedCompliancePolicyProperties xmlns="http://schemas.microsoft.com/sharepoint/v3" xsi:nil="true"/>
    <TaxCatchAll xmlns="567d2312-0729-48ba-857e-77359d3146cd" xsi:nil="true"/>
  </documentManagement>
</p:properties>
</file>

<file path=customXml/itemProps1.xml><?xml version="1.0" encoding="utf-8"?>
<ds:datastoreItem xmlns:ds="http://schemas.openxmlformats.org/officeDocument/2006/customXml" ds:itemID="{56FD3A3D-781E-4F92-84CC-1084E7E02136}"/>
</file>

<file path=customXml/itemProps2.xml><?xml version="1.0" encoding="utf-8"?>
<ds:datastoreItem xmlns:ds="http://schemas.openxmlformats.org/officeDocument/2006/customXml" ds:itemID="{52A03B55-A0E5-4352-9EBD-4A953FFC1014}"/>
</file>

<file path=customXml/itemProps3.xml><?xml version="1.0" encoding="utf-8"?>
<ds:datastoreItem xmlns:ds="http://schemas.openxmlformats.org/officeDocument/2006/customXml" ds:itemID="{11472C28-100C-4B5C-A8E7-63818B1051D7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4287</Words>
  <Application>Microsoft Office PowerPoint</Application>
  <PresentationFormat>Widescreen</PresentationFormat>
  <Paragraphs>637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Dr.Manish Kumar Jain</cp:lastModifiedBy>
  <cp:revision>2</cp:revision>
  <dcterms:created xsi:type="dcterms:W3CDTF">2026-08-17T10:28:15Z</dcterms:created>
  <dcterms:modified xsi:type="dcterms:W3CDTF">2026-08-23T11:17:35Z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0x010100C72DEC5C8BF5284E81BD4C5AED9FC143</vt:lpwstr>
  </property>
</Properties>
</file>