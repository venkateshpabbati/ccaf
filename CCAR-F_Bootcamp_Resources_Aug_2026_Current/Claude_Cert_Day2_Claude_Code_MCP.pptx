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11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77824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31316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9503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22995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22995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0120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0120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13612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51799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05291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05291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V="1">
            <a:off x="1042416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42416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95908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34095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87587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87587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 flipV="1">
            <a:off x="8778240" y="156728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778240" y="182880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313164" y="156728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695030" y="174559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229954" y="148407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229954" y="200710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 flipV="1">
            <a:off x="9601200" y="156728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601200" y="182880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0136124" y="156728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517990" y="174559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052914" y="148407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0052914" y="200710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 flipV="1">
            <a:off x="9052560" y="4890211"/>
            <a:ext cx="658368" cy="321869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052560" y="5212080"/>
            <a:ext cx="658368" cy="321869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710928" y="4890211"/>
            <a:ext cx="914" cy="64373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950147" y="5109667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608515" y="4787798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608515" y="5431536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 flipV="1">
            <a:off x="10607040" y="5539435"/>
            <a:ext cx="452628" cy="22128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0607040" y="5760720"/>
            <a:ext cx="452628" cy="22128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1059668" y="5539435"/>
            <a:ext cx="914" cy="4425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0536631" y="5690311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989259" y="5469026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0989259" y="5911596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31520" y="1417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31520" y="182880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2: Claude Code Workflows &amp; MCP Introduction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73152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 ·  20%      +      Domain 2  ·  18%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31520" y="3840480"/>
            <a:ext cx="32004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3152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Manish Kumar Jain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73152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Technical Consultant  |  Enterprise AI Training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3152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4-Hour Program  |  Hands-on Labs  |  Scenario-Based Knowledge Checks</a:t>
            </a:r>
            <a:endParaRPr lang="en-US" sz="12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173A84B0-AFD8-6466-BB60-89FE9F39B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Yesterday: Domain 1 — Agentic Architecture &amp; Orchestration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3230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Domain 3 (Claude Code &amp; MCP Integration) and Domain 2 (Implementation &amp; Tooling)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954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move from architecture concepts into hands-on building: CLAUDE.md, Skills, CI/CD pipelines, and tool design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Day 1 lab diagram handy — we will refer back to your multi-agent design today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05C17-F2CF-FE99-B810-636C5B1C9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Exam Domains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1737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Today 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&amp; MCP Integration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2 &amp; 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&amp; Tooling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4 &amp;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38328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68680" y="35661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Domain 3 and Domain 2 make up 38% of the certification exam — the single largest block across all 4 days. Today's content deserves extra revision time.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891879-2528-FEF1-509E-7EEF33609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Schedule at a Glance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3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 – 0:15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Day 1; open questions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0:15 – 1:15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 hierarchy, slash commands, Skills, permission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Demo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2:15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Headless Claude Code in CI/CD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Demo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2:15 – 2:25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2:25 – 3:30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design fundamentals: descriptions, tool_choice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3:30 – 4:00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Lab: write &amp; test a tool 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95DB7D-62D5-D77F-3285-F26FE13C9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Learning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CLAUDE.md precedence chain and what content belongs at each level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slash commands, Skills, and subagents, and know when to reach for each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552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permission model appropriate to a client's risk tolerance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03250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CI pipeline stage that invokes Claude Code non-interactively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773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79145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tool description that reliably drives correct tool selection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5504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each tool_choice mode appropriately for a given use case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FB83623-26CC-835A-E58D-3803D7465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Day 1 &amp; Open Questions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0:15  |  Discussion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recall check before we build on yesterday's architecture concepts.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1B562E-4303-F58C-39AA-DBF636FCD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Recall: Agent Loop &amp; stop_reason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loop: Goal → Reasoning → Tool Selection → Tool Execution → Result → Loop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stop_reason values: end_turn, tool_use, max_tokens, stop_sequence, pause_turn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needs a specific harness action — can you name all 5 from memory?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BAF4B6-2969-ED12-2246-8EB43C375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Recall: Multi-Agent Topologies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— independent spokes, coordinator aggregates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— decompose, assign, synthesise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 — generate, critique, repeat until quality bar is met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 — clean context, focused tools, security boundary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818120" y="1371600"/>
            <a:ext cx="3794760" cy="4892040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blockers from your Day 1 lab design?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0" y="26243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stop_reason or topology question still unclear?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46720" y="328269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Bring your lab diagram — we'll reference it today.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DD2DF0-434B-66C3-DF89-12F53A9AE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379534"/>
            <a:ext cx="2146090" cy="418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1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call is still running on the server with no error reported. Which stop_reason applies, and what should the harness do?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end_turn — show the response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pause_turn — resume by replaying the paused turn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 — call a new tool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— continue generation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46389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long-running server-side tool that pauses mid-execution without error is the pause_turn case, resolved by resuming the same turn.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E644B7A-4590-DF65-90BC-05F17C56D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1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needs a generator and a critic that repeat until a quality bar is met. Which topology is this?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03858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generate-critique-revise loop against explicit criteria is the defining feature of the evaluator-optimizer pattern.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34BB39A-9CDE-EDAB-018E-C067DA96D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1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subagent needs a clean context window and restricted tool access for security reasons. Which concept covers this?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3930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 gives a subagent its own clean context and focused tool access, exactly what strict security boundaries require.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E4FBC90-3045-593A-55CA-081EC9C94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CLAUDE.md, Slash Commands, Skills &amp; Permissions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– 1:15  |  Lecture + Demo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Claude Code the right way for a client's codebase and risk tolerance.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5889AB-A970-70FF-F6F3-DB933FF97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CLAUDE.md Precedence Chain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91356" y="15087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991356" y="15087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Enterprise-level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93892" y="2304288"/>
            <a:ext cx="201168" cy="283464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991356" y="260604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991356" y="26060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 root)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93892" y="3401568"/>
            <a:ext cx="201168" cy="283464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91356" y="370332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91356" y="37033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(home directory)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93892" y="4498848"/>
            <a:ext cx="201168" cy="283464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991356" y="48006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D9A544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991356" y="48006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session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94076" y="5989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levels set defaults; lower, more specific levels override them where settings overlap.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628103A-8F3E-BBE6-72AA-66FF9C56F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Belongs in CLAUDE.md?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build and test commands, coding conventions, architectural notes, repo-specific gotchas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out: secrets and credentials — never store these in CLAUDE.md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out: long documentation — link to it instead of pasting it in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short, current, and specific to how this repo actually works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3584448"/>
            <a:ext cx="10149840" cy="4572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51560" y="3621024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 `npm test` before every commit; this repo uses feature-branch naming like `loan/JIRA-123`”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40FE69A-3A9B-2829-5CB9-20A25F0C7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Slash Commands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commands ship with Claude Code; custom project commands are markdown files with frontmatter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support argument passing, so one command can handle several inputs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slash command for a short, repeatable, well-defined action a person triggers on demand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10149840" cy="4572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51560" y="3054096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/deploy-staging, /run-lint, /generate-changelog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593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task needs the model to discover and load relevant context automatically, reach for a Skill instead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E279D5-F78B-ADEA-CF7D-1C26DE83B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Skills: Structure &amp; Progressive Disclosure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packages instructions, and optionally scripts, into a SKILL.md file with a clear description of when it applies.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skill's short description first, and only loads the full SKILL.md content when the task actually matches — keeping context lean.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46988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“dashboard-designer” skill's description tells Claude it applies to spreadsheet-to-dashboard requests; Claude only loads the full instructions when a matching request appears.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C2C683-A529-6DB4-5C82-1930F42DE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vs. Slash Command vs. Subagent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Slash 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short, explicit action the user triggers by name, on 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reusable capability the model should discover and load automatically when relevant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task needing its own isolated context, tools, or parallel execution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match the trigger style (explicit vs. automatic) and isolation need to the right mechanism.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1CB6C2-77A0-982B-031D-DD25A3BC9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Models: Allow-List &amp; Deny-List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— only explicitly listed tools/actions are permitted; safest default for sensitive repos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Deny-list — everything is permitted except explicitly blocked actions; more flexible, less strict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confirmation prompts — ask the user before running a specific risky tool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D9681E-63D5-5AB8-A8CA-674BB7BD2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Models: Modes &amp; Sandboxing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— Claude proposes a plan before executing anything; good for high-stakes changes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edit mode — edits apply without per-step confirmation; good for low-risk, fast iteration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 for CI — run Claude Code in an isolated environment with no access beyond what the pipeline needs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7FB11A-2313-F5AA-FB9D-C20556D93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Scenario Framing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permission strictness to the sensitivity of the target repository or environment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sensitivity (core banking, production secrets): allow-list, plan mode, heavy confirmation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sensitivity (internal tooling, sandboxes): deny-list, auto-accept, fewer prompts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18120" y="1371600"/>
            <a:ext cx="3794760" cy="4632251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core-banking repo: strict allow-list + plan mode.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0" y="26243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 internal reporting-script repo: deny-list + auto-accept for speed.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9349C6-74D7-6B1B-82C9-963480C99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CLAUDE.md and Skills in Claude Code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Trainer-led demo — follow along on your own laptop.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project folder in 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CLAUDE.md file with your build/test command and one coding convention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“What does my CLAUDE.md tell you about this repo?” and confirm it picked up your notes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available Skills and read one SKILL.md file together as a group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switching between plan mode and auto-accept mode, and discuss when each is appropriate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9683FF-73F3-0B05-4621-EBD78360A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CLAUDE.md &amp; Permissions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wants Claude Code to reliably know their staging deploy steps every time, without re-explaining them each session. Where should this information go?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one-off chat message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the project level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slash command with no description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 — Claude should infer 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1803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Repo-specific, durable information like build/deploy commands belongs in CLAUDE.md so it is available automatically in every session.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9A24AC6-313C-454C-0F5F-FA3E35335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CLAUDE.md &amp; Permissions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wants a short, explicit action — “regenerate the changelog” — that they trigger by name whenever they choose. What is the best mechanism?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subagent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slash command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allow-list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88919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explicit, on-demand, well-defined action triggered by name is exactly what a slash command is designed for.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0733F1F-3555-857A-7941-8CE87E185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CLAUDE.md &amp; Permissions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client's production core-banking repository needs the strictest possible safeguards before Claude Code makes any change. Which permission configuration fits best?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Deny-list with auto-accept edits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with plan mode and per-tool confirmation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 model at 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but auto-accept edits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59677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sensitive environments call for the strictest configuration: an allow-list, proposing plans before executing, and confirmation prompts on risky tools.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5FDEBD8-DD95-4E60-9824-778219C84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Headless Claude Code in CI/CD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2:15  |  Lecture + Demo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Claude Code non-interactively inside real CI/CD pipelines.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3D7798A-E79A-33CD-2F29-F769799CA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Headless / Print Mode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Claude Code non-interactively — no human watching or responding to prompts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(JSON) output makes the result machine-parseable by your pipeline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codes signal pass/fail, so a pipeline stage can gate on the result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8E0D9E-A38B-8956-2CC8-D792CD214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Code Review Pipelines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PR open or update — no manual kick-off needed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inline review comments directly on the diff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merges automatically when critical findings are detected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CC621-99DA-019C-0AE7-DB4A704EB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 Generation Workflows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 scoped only to the files that actually changed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generated tests in CI as part of the same pipeline stage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coverage deltas back on the PR so reviewers see the impact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E9F0BD-8E67-0BF7-DC5D-B57F6E9CA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 Workflows End to End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commits — Claude commits small fixes directly where safe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PR descriptions and labels for consistency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to a human reviewer for high-risk changes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1E0CEE-F31B-7C2A-744D-67B0D4E18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Integrating with CI Systems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— PR events, scheduled runs, manual dispatch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— never expose credentials to the model directly; inject via the CI system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controls — turn caps and token caps prevent runaway spend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and retry policy — bound how long a stage can run and how failures are retried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818120" y="1371600"/>
            <a:ext cx="3794760" cy="4717312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GitHub Actions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Trigger: on pull_request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0" y="26243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Secrets: stored in Actions secrets, not in prompts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46720" y="328269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cap: max turns per run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DDED98F-A920-3F27-2EC4-6B1E346F9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full agent transcripts for audit — you need a record of what the agent did and why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stop_reason plus the full tool-call history to debug pipeline failures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these logs as first-class pipeline artifacts, not optional extras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1127B3-55CC-4360-41C6-62266485A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CI Review Stage (Demo)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Trainer-led walkthrough — no coding required yet, just design.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Claude chat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CI setup: “We use GitHub Actions and want automated review on every PR.”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“Draft a headless Claude Code stage for this pipeline, including cost controls and a timeout.”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JSON output structure Claude proposes for pass/fail gating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should trigger escalation to a human reviewer in your own team's pipeline?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77BD435-FBB0-A747-EBAC-E7DA38E6E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Headless Claude Code in CI/CD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needs to automatically decide whether to block a PR merge based on Claude Code's review. What output mode makes this reliable to parse?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chat text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with an exit code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verbal summary in the PR title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at all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03096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Headless/print mode with structured JSON output and exit codes is what allows a pipeline to reliably parse and gate on the result.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11DDDD9-C465-D125-839C-B1838A6DF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Headless Claude Code in CI/CD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is worried an automated pipeline stage could run away and consume excessive tokens. What should they configure?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this cannot happen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token caps as part of the CI integration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secrets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structured output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24361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token caps are the specific cost-control mechanism for bounding runaway spend in an automated pipeline.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4B4E48C-758C-3C21-73E9-2A8676EDE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Headless Claude Code in CI/CD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failure needs debugging. Which two pieces of information are most useful to have logged?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final exit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plus the full tool-call history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PR title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developer's local IDE theme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6056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guidance calls for logging stop_reason and tool-call history specifically, since these explain what the agent did and why it stopped.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8CE6DFE-2E38-5688-CD10-E3207C5CF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828800" y="485912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512064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363724" y="485912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745590" y="503743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0514" y="477591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0514" y="529894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92640" y="927202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92640" y="1188720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227564" y="927202"/>
            <a:ext cx="914" cy="523037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09430" y="1105510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144354" y="843991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144354" y="1367028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0" y="2468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BREAK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0" y="29260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2:15 – 2:25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away from the screen — Session 4 begins in 10 minutes.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04E7FA2-1AC8-7E10-77CE-AF59F8CC0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Design Fundamentals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2:25 – 3:30  |  Lecture + Lab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are the interface — write them so the model chooses correctly.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795CBC-F00B-4623-FBD7-F38880D5D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 Description IS the Interface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selects and calls tools based only on the name, description, and parameter schema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sees your implementation code — the description is all it has to go 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or misleading description leads to wrong tool choices, no matter how good your code is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F97A9C-339B-8AA5-F4AE-D301F04B7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Strong Tool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does — in plain, specific language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 — the situations that should trigger this tool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returns — so the model knows what to expect back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or constraints, plus example inputs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5F4621-BC2A-10C4-655A-77940C130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descriptive names — avoid generic names like “data” or “input”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fields required vs. optional clearly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enums to constrain free text where a fixed set of values is expected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ambiguous or overlapping parameters that could confuse the model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60188F-A32B-12F1-DC7D-F52A3193C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Anti-Patterns to Avoid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descriptions like “does stuff with data”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tools that confuse selection between two similar options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overloaded tool trying to do too many unrelated things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18120" y="1371600"/>
            <a:ext cx="3794760" cy="4703135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 specific about inputs and outputs.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0" y="26243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Merge or clearly differentiate near-duplicates.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328269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 an overloaded tool into focused ones.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AC46324-E68C-4559-7F68-80F9E22C4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tool_choice Modes</a:t>
            </a:r>
            <a:endParaRPr lang="en-US" sz="2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decides whether and which tool to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must call some tool (but can choose which)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a specific, named tool to be called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 tool use for this turn entirely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scenario questions often describe a need (e.g. “must extract structured data every time”) and ask which tool_choice mode fits.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CD3563-CB95-B674-5D40-A9A5BAE90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Force tool_choice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extraction — force a specific tool so the output always has the right shape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pipeline steps — remove ambiguity about whether a tool runs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single-path flows — there should be exactly one way through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6B629A-F29F-9C80-8928-8B044DAA4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Tool Descriptions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prompts — try to trick the model into picking the wrong tool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scenarios — test prompts that sit close to two similar tools' boundaries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model consistently picks correctly among similar options before shipping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92BB20-82A8-4CE8-307A-D3061573E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Tool Description Test in Claude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Trainer-led mini-exercise — 5 minutes.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Claude chat with tool-use enabled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two similar tools: “check_credit_score” and “check_credit_history” with short, vague descriptions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prompt that could match either tool and see which one Claude picks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descriptions to be more specific, then re-test the same prompt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did the more specific descriptions change or fix the tool selection?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6F6B24B-5567-9FBC-8F73-F2B4411AB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Tool Design Fundamentals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 named “check_status” and “get_status” have nearly identical vague descriptions. What problem does this cause?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problem — more tools is always better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may struggle to reliably choose the correct one between them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automatically forces tool_choice = none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model faster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6765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tools with vague, overlapping descriptions is a named anti-pattern that confuses tool selection.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F129C9E-4200-B82B-E5A3-474611B9B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Tool Design Fundamentals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step must always extract data in one specific structured format, with no exceptions. Which tool_choice mode fits best?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(forcing the specific tool)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5271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a specific named tool with tool_choice = tool guarantees the deterministic, single-path structured output this scenario needs.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35B27D7-3434-1EA8-D561-2D629AED7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Tool Design Fundamentals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shipping a new tool description, what is the recommended way to validate it will drive correct selection?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directly to production without testing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only with the exact prompt you wrote the tool for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adversarial and near-miss prompts against similar tools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parameter schema to simplify 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74742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 descriptions specifically calls for adversarial prompts and near-miss scenarios against similar tools before shipping.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B2FBC4-8B76-C404-9AE2-C12DE7921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 – 4:00  |  Hands-on Lab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test a tool description for a client scenario.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E33D8FC-DCE7-E4B5-D262-CB480C4C1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Overview &amp;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tool name, description, and parameter schema for an assigned client use case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tool definition against 3–5 test prompts, including one designed to expose ambiguity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the description and schema based on the tool selections you actually observe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your final draft against the strong tool description checklist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B0AAB7-3697-3872-71C3-A99EF58BE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Tool Description Checklist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States clearly what the tool does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States when to use it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States what it returns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Notes edge cases or constraints, with example inputs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593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Parameters use descriptive names, clear required/optional, and enums where useful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30682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No overlap or ambiguity with any similar existing tool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84537F6-FB22-2B4A-EA9C-EB9020EEB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Perform This Lab in Claude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lab — see the companion Lab Guide document for the detailed worksheet.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Claude chat and note your assigned client use case (e.g. a fraud-alert lookup tool)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“Help me draft a tool name, description, and parameter schema for this use case: [describe it].”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3–5 test prompts, including one that could be confused with a similar tool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test prompt and record which tool Claude selects and why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“Here's what my tool picked for each prompt — how should I revise the description to fix any wrong picks?”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8554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description and schema, then peer review it against the checklist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46702E6-17F9-D29F-1549-5BF120F50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Hands-on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testing, your tool description caused Claude to pick the wrong tool on a near-miss prompt. What is the recommended next step?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it, since one wrong pick doesn't matter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the description and parameters based on the actual observed selection, then retest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tool entirely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tool_choice = none permanently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31449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process is iterative: observe actual tool selections, revise the description/schema, and retest — not abandon the tool or disable tool use.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EB59A65-0070-DEB9-7E75-B1DA8E51A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Hands-on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 deliverable must include at least one test prompt designed to do what?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tool never gets called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ambiguity with a similar tool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unrelated functionality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parameter schema on purpose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6056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explicitly requires at least one test prompt designed to expose ambiguity with a similar tool, to properly stress-test selection.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4A81600-7593-6019-C4CC-CFE3CFBF3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Hands-on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submitting your final tool description, what should you do?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immediately after the first draft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it against the strong tool description checklist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example inputs to save space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testing since you're confident it's correct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1018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process ends with a peer review against the strong tool description checklist from Session 4, not an unreviewed first draft.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16FC3DB-DAD5-5164-D615-35E7C8C9E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Day 2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precedence: enterprise → project → user → local, each overriding the level above where they overlap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mechanism: slash command (explicit), Skill (automatic), subagent (isolated)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Claude Code needs structured output, cost controls, and full observability in CI/CD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description is the entire interface the model sees — write it like one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685621-EE25-00F0-113D-50E379F77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Exam Pitfalls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a Skill (automatic discovery) with a slash command (explicit trigger)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cost controls (turn/token caps) when designing a CI pipeline stage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tool_choice = auto for a scenario that actually needs a forced, deterministic path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27E044-0BBB-69E0-7EF2-EEEA16FCD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to Day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tool-design and CI skills feed directly into Day 3's implementation and evaluation focus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covers Domain 2 and Domain 4: implementation, evaluation and safety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finished tool description — you will extend it tomorrow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136B34-4FBE-2A40-B0BC-A02699919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6: Comprehensive Review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wants Claude Code to automatically know their repo's test command every session, without re-explaining it, while a developer also wants an on-demand “/run-tests” action. What should be configured?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slash command, nothing else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for the durable test command, plus a slash command for the on-demand 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CLAUDE.md, no slash command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instead of both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53477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is right for durable, always-available repo context; a slash command is right for the explicit, on-demand trigger — both can and should coexist.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C6AAD04-C33F-9C5A-B6F5-AE23F8185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6: Comprehensive Review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pipeline stage must gate PR merges automatically and must never run away in cost. Which two features are essential?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text output and no caps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with exit codes, plus turn/token caps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only, no other controls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edits with no logging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96007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with exit codes enables automated gating, and turn/token caps are the specific control against runaway cost — both are essential together.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261A2BC-F51A-C122-3505-2929D711F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6: Comprehensive Review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near-identical tools keep confusing the model's selection during testing. What is the best combined fix?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tool_choice = none permanently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or clearly differentiate the tools, and test with near-miss prompts before shipping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parameters from both tools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both tools identically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589682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anti-pattern of near-duplicate tools is fixed by clearly differentiating (or merging) them, validated through near-miss prompt testing.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780F322-7DFB-8EB6-204C-3F55C9D60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69680" y="72420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100584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445752" y="72420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80069" y="91622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356141" y="63459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56141" y="119786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92640" y="4950562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92640" y="5212080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227564" y="4950562"/>
            <a:ext cx="914" cy="523037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09430" y="5128870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144354" y="4867351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144354" y="5390388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V="1">
            <a:off x="1188720" y="5193792"/>
            <a:ext cx="411480" cy="20116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88720" y="5394960"/>
            <a:ext cx="411480" cy="20116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600200" y="5193792"/>
            <a:ext cx="914" cy="402336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24712" y="53309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536192" y="512978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536192" y="553212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3: Implementation, Evaluation &amp; Safety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Manish Kumar Jain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Technical Consultant  |  Enterprise AI Training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any time between sessions.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2  |  Domain 3 &amp; Domain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11E9880-6DC7-21C7-3753-65AAD6B1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28" y="6259666"/>
            <a:ext cx="2146090" cy="538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2DEC5C8BF5284E81BD4C5AED9FC143" ma:contentTypeVersion="21" ma:contentTypeDescription="Create a new document." ma:contentTypeScope="" ma:versionID="bfc1964c0fb8b0b0f15cb08538983cdf">
  <xsd:schema xmlns:xsd="http://www.w3.org/2001/XMLSchema" xmlns:xs="http://www.w3.org/2001/XMLSchema" xmlns:p="http://schemas.microsoft.com/office/2006/metadata/properties" xmlns:ns1="http://schemas.microsoft.com/sharepoint/v3" xmlns:ns2="b0bb338f-7b42-4437-b836-3bba46acea74" xmlns:ns3="847b69b4-afc2-4d71-b6dd-a5b5c23f9e3f" xmlns:ns4="567d2312-0729-48ba-857e-77359d3146cd" targetNamespace="http://schemas.microsoft.com/office/2006/metadata/properties" ma:root="true" ma:fieldsID="c845ba8b66cb9afb1512695f3dd38e09" ns1:_="" ns2:_="" ns3:_="" ns4:_="">
    <xsd:import namespace="http://schemas.microsoft.com/sharepoint/v3"/>
    <xsd:import namespace="b0bb338f-7b42-4437-b836-3bba46acea74"/>
    <xsd:import namespace="847b69b4-afc2-4d71-b6dd-a5b5c23f9e3f"/>
    <xsd:import namespace="567d2312-0729-48ba-857e-77359d3146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Link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b338f-7b42-4437-b836-3bba46acea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inks" ma:index="20" nillable="true" ma:displayName="Links" ma:format="Hyperlink" ma:internalName="Link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6c96b7e-5bf0-4834-8b97-10d0cc9633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7b69b4-afc2-4d71-b6dd-a5b5c23f9e3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d2312-0729-48ba-857e-77359d3146cd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729d132-36df-45cd-aba4-e5565f9ac6c9}" ma:internalName="TaxCatchAll" ma:showField="CatchAllData" ma:web="847b69b4-afc2-4d71-b6dd-a5b5c23f9e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b0bb338f-7b42-4437-b836-3bba46acea74">
      <Terms xmlns="http://schemas.microsoft.com/office/infopath/2007/PartnerControls"/>
    </lcf76f155ced4ddcb4097134ff3c332f>
    <Links xmlns="b0bb338f-7b42-4437-b836-3bba46acea74">
      <Url xsi:nil="true"/>
      <Description xsi:nil="true"/>
    </Links>
    <_ip_UnifiedCompliancePolicyProperties xmlns="http://schemas.microsoft.com/sharepoint/v3" xsi:nil="true"/>
    <TaxCatchAll xmlns="567d2312-0729-48ba-857e-77359d3146cd" xsi:nil="true"/>
  </documentManagement>
</p:properties>
</file>

<file path=customXml/itemProps1.xml><?xml version="1.0" encoding="utf-8"?>
<ds:datastoreItem xmlns:ds="http://schemas.openxmlformats.org/officeDocument/2006/customXml" ds:itemID="{69D0E792-6BD1-4E0E-9446-C00505273F17}"/>
</file>

<file path=customXml/itemProps2.xml><?xml version="1.0" encoding="utf-8"?>
<ds:datastoreItem xmlns:ds="http://schemas.openxmlformats.org/officeDocument/2006/customXml" ds:itemID="{0E46AC04-7471-40BD-AE3A-09B115CD013C}"/>
</file>

<file path=customXml/itemProps3.xml><?xml version="1.0" encoding="utf-8"?>
<ds:datastoreItem xmlns:ds="http://schemas.openxmlformats.org/officeDocument/2006/customXml" ds:itemID="{6CA9222B-C554-458A-8EAE-465974C83E73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5188</Words>
  <Application>Microsoft Office PowerPoint</Application>
  <PresentationFormat>Widescreen</PresentationFormat>
  <Paragraphs>750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Dr.Manish Kumar Jain</cp:lastModifiedBy>
  <cp:revision>2</cp:revision>
  <dcterms:created xsi:type="dcterms:W3CDTF">2026-08-17T08:44:58Z</dcterms:created>
  <dcterms:modified xsi:type="dcterms:W3CDTF">2026-08-23T11:09:04Z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0x010100C72DEC5C8BF5284E81BD4C5AED9FC143</vt:lpwstr>
  </property>
</Properties>
</file>